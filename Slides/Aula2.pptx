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6795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2011680"/>
          </a:xfrm>
          <a:prstGeom prst="rect">
            <a:avLst/>
          </a:prstGeom>
          <a:solidFill>
            <a:srgbClr val="162055"/>
          </a:solidFill>
          <a:ln w="12700">
            <a:solidFill>
              <a:srgbClr val="16205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6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Computação</a:t>
            </a:r>
            <a:endParaRPr lang="pt-BR" sz="16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4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</a:t>
            </a:r>
            <a:r>
              <a:rPr lang="pt-BR" sz="40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Parte II</a:t>
            </a:r>
            <a:endParaRPr lang="pt-BR" sz="40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400" i="1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 de Boole · Portas Lógicas · Circuitos Digitais</a:t>
            </a:r>
            <a:endParaRPr lang="pt-BR" sz="14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4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Lucas Scotta</a:t>
            </a:r>
            <a:endParaRPr lang="pt-BR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4251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Federal Fluminense • IFF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pt-BR" sz="32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566928"/>
          </a:xfrm>
          <a:prstGeom prst="rect">
            <a:avLst/>
          </a:prstGeom>
          <a:solidFill>
            <a:srgbClr val="1A3A7A"/>
          </a:solidFill>
          <a:ln w="12700">
            <a:solidFill>
              <a:srgbClr val="2A5AC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Revisão: Funções Booleanas</a:t>
            </a:r>
            <a:endParaRPr lang="pt-BR" sz="12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023360" cy="566928"/>
          </a:xfrm>
          <a:prstGeom prst="rect">
            <a:avLst/>
          </a:prstGeom>
          <a:solidFill>
            <a:srgbClr val="1A3A7A"/>
          </a:solidFill>
          <a:ln w="12700">
            <a:solidFill>
              <a:srgbClr val="2A5AC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502920" y="170992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Portas Lógicas (AND, OR, NOT, XOR…)</a:t>
            </a:r>
            <a:endParaRPr lang="pt-BR" sz="1200" noProof="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4023360" cy="566928"/>
          </a:xfrm>
          <a:prstGeom prst="rect">
            <a:avLst/>
          </a:prstGeom>
          <a:solidFill>
            <a:srgbClr val="1A3A7A"/>
          </a:solidFill>
          <a:ln w="12700">
            <a:solidFill>
              <a:srgbClr val="2A5AC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502920" y="239572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Circuitos Digitais</a:t>
            </a:r>
            <a:endParaRPr lang="pt-B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4023360" cy="566928"/>
          </a:xfrm>
          <a:prstGeom prst="rect">
            <a:avLst/>
          </a:prstGeom>
          <a:solidFill>
            <a:srgbClr val="1A3A7A"/>
          </a:solidFill>
          <a:ln w="12700">
            <a:solidFill>
              <a:srgbClr val="2A5AC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502920" y="308152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Álgebra de Boole — Operações Básicas</a:t>
            </a:r>
            <a:endParaRPr lang="pt-BR" sz="1200" noProof="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4023360" cy="566928"/>
          </a:xfrm>
          <a:prstGeom prst="rect">
            <a:avLst/>
          </a:prstGeom>
          <a:solidFill>
            <a:srgbClr val="1A3A7A"/>
          </a:solidFill>
          <a:ln w="12700">
            <a:solidFill>
              <a:srgbClr val="2A5AC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502920" y="376732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Avaliação de Expressões Booleanas</a:t>
            </a:r>
            <a:endParaRPr lang="pt-BR" sz="1200" noProof="0" dirty="0"/>
          </a:p>
        </p:txBody>
      </p:sp>
      <p:sp>
        <p:nvSpPr>
          <p:cNvPr id="13" name="Shape 11"/>
          <p:cNvSpPr/>
          <p:nvPr/>
        </p:nvSpPr>
        <p:spPr>
          <a:xfrm>
            <a:off x="4846320" y="1005840"/>
            <a:ext cx="4023360" cy="566928"/>
          </a:xfrm>
          <a:prstGeom prst="rect">
            <a:avLst/>
          </a:prstGeom>
          <a:solidFill>
            <a:srgbClr val="1A3A7A"/>
          </a:solidFill>
          <a:ln w="12700">
            <a:solidFill>
              <a:srgbClr val="2A5AC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4892040" y="102412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Equivalência de Funções Lógicas</a:t>
            </a:r>
            <a:endParaRPr lang="pt-BR" sz="1200" noProof="0" dirty="0"/>
          </a:p>
        </p:txBody>
      </p:sp>
      <p:sp>
        <p:nvSpPr>
          <p:cNvPr id="15" name="Shape 13"/>
          <p:cNvSpPr/>
          <p:nvPr/>
        </p:nvSpPr>
        <p:spPr>
          <a:xfrm>
            <a:off x="4846320" y="1691640"/>
            <a:ext cx="4023360" cy="566928"/>
          </a:xfrm>
          <a:prstGeom prst="rect">
            <a:avLst/>
          </a:prstGeom>
          <a:solidFill>
            <a:srgbClr val="1A3A7A"/>
          </a:solidFill>
          <a:ln w="12700">
            <a:solidFill>
              <a:srgbClr val="2A5AC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4892040" y="170992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Propriedades da Álgebra de Boole</a:t>
            </a:r>
            <a:endParaRPr lang="pt-BR" sz="1200" noProof="0" dirty="0"/>
          </a:p>
        </p:txBody>
      </p:sp>
      <p:sp>
        <p:nvSpPr>
          <p:cNvPr id="17" name="Shape 15"/>
          <p:cNvSpPr/>
          <p:nvPr/>
        </p:nvSpPr>
        <p:spPr>
          <a:xfrm>
            <a:off x="4846320" y="2377440"/>
            <a:ext cx="4023360" cy="566928"/>
          </a:xfrm>
          <a:prstGeom prst="rect">
            <a:avLst/>
          </a:prstGeom>
          <a:solidFill>
            <a:srgbClr val="1A3A7A"/>
          </a:solidFill>
          <a:ln w="12700">
            <a:solidFill>
              <a:srgbClr val="2A5AC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4892040" y="239572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Propriedades da Função XOR</a:t>
            </a:r>
            <a:endParaRPr lang="pt-BR" sz="1200" noProof="0" dirty="0"/>
          </a:p>
        </p:txBody>
      </p:sp>
      <p:sp>
        <p:nvSpPr>
          <p:cNvPr id="19" name="Shape 17"/>
          <p:cNvSpPr/>
          <p:nvPr/>
        </p:nvSpPr>
        <p:spPr>
          <a:xfrm>
            <a:off x="4846320" y="3063240"/>
            <a:ext cx="4023360" cy="566928"/>
          </a:xfrm>
          <a:prstGeom prst="rect">
            <a:avLst/>
          </a:prstGeom>
          <a:solidFill>
            <a:srgbClr val="1A3A7A"/>
          </a:solidFill>
          <a:ln w="12700">
            <a:solidFill>
              <a:srgbClr val="2A5AC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8"/>
          <p:cNvSpPr/>
          <p:nvPr/>
        </p:nvSpPr>
        <p:spPr>
          <a:xfrm>
            <a:off x="4892040" y="308152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Exercícios</a:t>
            </a:r>
            <a:endParaRPr lang="pt-BR" sz="1200" noProof="0" dirty="0"/>
          </a:p>
        </p:txBody>
      </p:sp>
      <p:sp>
        <p:nvSpPr>
          <p:cNvPr id="21" name="Text 19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Computação • IFF 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Revisão: Conectivos Lógicos</a:t>
            </a:r>
            <a:endParaRPr lang="pt-BR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97480" cy="1600200"/>
          </a:xfrm>
          <a:prstGeom prst="rect">
            <a:avLst/>
          </a:prstGeom>
          <a:solidFill>
            <a:srgbClr val="E0E7FF"/>
          </a:solidFill>
          <a:ln w="12700">
            <a:solidFill>
              <a:srgbClr val="D0D5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475488" y="109728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Conjunção</a:t>
            </a:r>
            <a:endParaRPr lang="pt-BR" sz="1400" noProof="0" dirty="0"/>
          </a:p>
        </p:txBody>
      </p:sp>
      <p:sp>
        <p:nvSpPr>
          <p:cNvPr id="6" name="Text 4"/>
          <p:cNvSpPr/>
          <p:nvPr/>
        </p:nvSpPr>
        <p:spPr>
          <a:xfrm>
            <a:off x="475488" y="1417320"/>
            <a:ext cx="2478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i="1" noProof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(.)  x . y</a:t>
            </a:r>
            <a:endParaRPr lang="pt-BR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475488" y="1673352"/>
            <a:ext cx="2478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se e somente se ambos conjuntos são V</a:t>
            </a:r>
            <a:endParaRPr lang="pt-BR" sz="1050" noProof="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97480" cy="1600200"/>
          </a:xfrm>
          <a:prstGeom prst="rect">
            <a:avLst/>
          </a:prstGeom>
          <a:solidFill>
            <a:srgbClr val="DDD6FE"/>
          </a:solidFill>
          <a:ln w="12700">
            <a:solidFill>
              <a:srgbClr val="D0D5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3310128" y="109728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Disjunção</a:t>
            </a:r>
            <a:endParaRPr lang="pt-BR" sz="1400" noProof="0" dirty="0"/>
          </a:p>
        </p:txBody>
      </p:sp>
      <p:sp>
        <p:nvSpPr>
          <p:cNvPr id="10" name="Text 8"/>
          <p:cNvSpPr/>
          <p:nvPr/>
        </p:nvSpPr>
        <p:spPr>
          <a:xfrm>
            <a:off x="3310128" y="1417320"/>
            <a:ext cx="2478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i="1" noProof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(+)  x + y</a:t>
            </a:r>
            <a:endParaRPr lang="pt-BR" sz="1200" noProof="0" dirty="0"/>
          </a:p>
        </p:txBody>
      </p:sp>
      <p:sp>
        <p:nvSpPr>
          <p:cNvPr id="11" name="Text 9"/>
          <p:cNvSpPr/>
          <p:nvPr/>
        </p:nvSpPr>
        <p:spPr>
          <a:xfrm>
            <a:off x="3310128" y="1673352"/>
            <a:ext cx="2478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se e somente se ambos disjuntos são F</a:t>
            </a:r>
            <a:endParaRPr lang="pt-BR" sz="1050" noProof="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697480" cy="1600200"/>
          </a:xfrm>
          <a:prstGeom prst="rect">
            <a:avLst/>
          </a:prstGeom>
          <a:solidFill>
            <a:srgbClr val="EDE9FE"/>
          </a:solidFill>
          <a:ln w="12700">
            <a:solidFill>
              <a:srgbClr val="D0D5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6144768" y="109728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Negação</a:t>
            </a:r>
            <a:endParaRPr lang="pt-BR" sz="1400" noProof="0" dirty="0"/>
          </a:p>
        </p:txBody>
      </p:sp>
      <p:sp>
        <p:nvSpPr>
          <p:cNvPr id="14" name="Text 12"/>
          <p:cNvSpPr/>
          <p:nvPr/>
        </p:nvSpPr>
        <p:spPr>
          <a:xfrm>
            <a:off x="6144768" y="1417320"/>
            <a:ext cx="2478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i="1" noProof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(-)  x-bar</a:t>
            </a:r>
            <a:endParaRPr lang="pt-BR" sz="1200" noProof="0" dirty="0"/>
          </a:p>
        </p:txBody>
      </p:sp>
      <p:sp>
        <p:nvSpPr>
          <p:cNvPr id="15" name="Text 13"/>
          <p:cNvSpPr/>
          <p:nvPr/>
        </p:nvSpPr>
        <p:spPr>
          <a:xfrm>
            <a:off x="6144768" y="1673352"/>
            <a:ext cx="2478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 o valor lógico da proposição</a:t>
            </a:r>
            <a:endParaRPr lang="pt-BR" sz="1050" noProof="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697480" cy="1600200"/>
          </a:xfrm>
          <a:prstGeom prst="rect">
            <a:avLst/>
          </a:prstGeom>
          <a:solidFill>
            <a:srgbClr val="F3E8FF"/>
          </a:solidFill>
          <a:ln w="12700">
            <a:solidFill>
              <a:srgbClr val="D0D5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475488" y="283464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Implicação</a:t>
            </a:r>
            <a:endParaRPr lang="pt-BR" sz="1400" noProof="0" dirty="0"/>
          </a:p>
        </p:txBody>
      </p:sp>
      <p:sp>
        <p:nvSpPr>
          <p:cNvPr id="18" name="Text 16"/>
          <p:cNvSpPr/>
          <p:nvPr/>
        </p:nvSpPr>
        <p:spPr>
          <a:xfrm>
            <a:off x="475488" y="3154680"/>
            <a:ext cx="2478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i="1" noProof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... Então</a:t>
            </a:r>
            <a:endParaRPr lang="pt-BR" sz="1200" noProof="0" dirty="0"/>
          </a:p>
        </p:txBody>
      </p:sp>
      <p:sp>
        <p:nvSpPr>
          <p:cNvPr id="19" name="Text 17"/>
          <p:cNvSpPr/>
          <p:nvPr/>
        </p:nvSpPr>
        <p:spPr>
          <a:xfrm>
            <a:off x="475488" y="3410712"/>
            <a:ext cx="2478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somente se antecedente V e consequente F</a:t>
            </a:r>
            <a:endParaRPr lang="pt-BR" sz="1050" noProof="0" dirty="0"/>
          </a:p>
        </p:txBody>
      </p:sp>
      <p:sp>
        <p:nvSpPr>
          <p:cNvPr id="20" name="Shape 18"/>
          <p:cNvSpPr/>
          <p:nvPr/>
        </p:nvSpPr>
        <p:spPr>
          <a:xfrm>
            <a:off x="3200400" y="2743200"/>
            <a:ext cx="2697480" cy="1600200"/>
          </a:xfrm>
          <a:prstGeom prst="rect">
            <a:avLst/>
          </a:prstGeom>
          <a:solidFill>
            <a:srgbClr val="FCE7F3"/>
          </a:solidFill>
          <a:ln w="12700">
            <a:solidFill>
              <a:srgbClr val="D0D5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3310128" y="283464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Equivalência</a:t>
            </a:r>
            <a:endParaRPr lang="pt-BR" sz="1400" noProof="0" dirty="0"/>
          </a:p>
        </p:txBody>
      </p:sp>
      <p:sp>
        <p:nvSpPr>
          <p:cNvPr id="22" name="Text 20"/>
          <p:cNvSpPr/>
          <p:nvPr/>
        </p:nvSpPr>
        <p:spPr>
          <a:xfrm>
            <a:off x="3310128" y="3154680"/>
            <a:ext cx="2478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i="1" noProof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.. somente se ..</a:t>
            </a:r>
            <a:endParaRPr lang="pt-BR" sz="1200" noProof="0" dirty="0"/>
          </a:p>
        </p:txBody>
      </p:sp>
      <p:sp>
        <p:nvSpPr>
          <p:cNvPr id="23" name="Text 21"/>
          <p:cNvSpPr/>
          <p:nvPr/>
        </p:nvSpPr>
        <p:spPr>
          <a:xfrm>
            <a:off x="3310128" y="3410712"/>
            <a:ext cx="2478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se ambos têm o mesmo valor lógico</a:t>
            </a:r>
            <a:endParaRPr lang="pt-BR" sz="1050" noProof="0" dirty="0"/>
          </a:p>
        </p:txBody>
      </p:sp>
      <p:sp>
        <p:nvSpPr>
          <p:cNvPr id="24" name="Shape 22"/>
          <p:cNvSpPr/>
          <p:nvPr/>
        </p:nvSpPr>
        <p:spPr>
          <a:xfrm>
            <a:off x="6035040" y="2743200"/>
            <a:ext cx="2697480" cy="1600200"/>
          </a:xfrm>
          <a:prstGeom prst="rect">
            <a:avLst/>
          </a:prstGeom>
          <a:solidFill>
            <a:srgbClr val="FEF3F2"/>
          </a:solidFill>
          <a:ln w="12700">
            <a:solidFill>
              <a:srgbClr val="D0D5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3"/>
          <p:cNvSpPr/>
          <p:nvPr/>
        </p:nvSpPr>
        <p:spPr>
          <a:xfrm>
            <a:off x="6144768" y="283464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</a:t>
            </a:r>
            <a:endParaRPr lang="pt-BR" sz="1400" noProof="0" dirty="0"/>
          </a:p>
        </p:txBody>
      </p:sp>
      <p:sp>
        <p:nvSpPr>
          <p:cNvPr id="26" name="Text 24"/>
          <p:cNvSpPr/>
          <p:nvPr/>
        </p:nvSpPr>
        <p:spPr>
          <a:xfrm>
            <a:off x="6144768" y="3154680"/>
            <a:ext cx="2478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i="1" noProof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exclusivo</a:t>
            </a:r>
            <a:endParaRPr lang="pt-BR" sz="1200" noProof="0" dirty="0"/>
          </a:p>
        </p:txBody>
      </p:sp>
      <p:sp>
        <p:nvSpPr>
          <p:cNvPr id="27" name="Text 25"/>
          <p:cNvSpPr/>
          <p:nvPr/>
        </p:nvSpPr>
        <p:spPr>
          <a:xfrm>
            <a:off x="6144768" y="3410712"/>
            <a:ext cx="2478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somente se os valores são diferentes</a:t>
            </a:r>
            <a:endParaRPr lang="pt-BR" sz="1050" noProof="0" dirty="0"/>
          </a:p>
        </p:txBody>
      </p:sp>
      <p:sp>
        <p:nvSpPr>
          <p:cNvPr id="28" name="Text 26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Computação • IFF • 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Booleanas</a:t>
            </a:r>
            <a:endParaRPr lang="pt-BR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051560"/>
          </a:xfrm>
          <a:prstGeom prst="rect">
            <a:avLst/>
          </a:prstGeom>
          <a:solidFill>
            <a:srgbClr val="E0E7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função booleana é uma expressão formada por sinais de entrada (variáveis de entrada) ligados por conectivos lógicos, produzindo como resultado um único sinal de saída.</a:t>
            </a:r>
            <a:endParaRPr lang="pt-BR" sz="1300" noProof="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Circuitos Digitais operam com apenas dois valores lógicos:</a:t>
            </a:r>
            <a:endParaRPr lang="pt-BR" sz="1300" noProof="0" dirty="0"/>
          </a:p>
        </p:txBody>
      </p:sp>
      <p:sp>
        <p:nvSpPr>
          <p:cNvPr id="7" name="Shape 5"/>
          <p:cNvSpPr/>
          <p:nvPr/>
        </p:nvSpPr>
        <p:spPr>
          <a:xfrm>
            <a:off x="365760" y="2606040"/>
            <a:ext cx="4114800" cy="1005840"/>
          </a:xfrm>
          <a:prstGeom prst="rect">
            <a:avLst/>
          </a:prstGeom>
          <a:solidFill>
            <a:srgbClr val="FCE7F3"/>
          </a:solidFill>
          <a:ln w="12700">
            <a:solidFill>
              <a:srgbClr val="D0D5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36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pt-BR" sz="3600" noProof="0" dirty="0"/>
          </a:p>
        </p:txBody>
      </p:sp>
      <p:sp>
        <p:nvSpPr>
          <p:cNvPr id="9" name="Text 7"/>
          <p:cNvSpPr/>
          <p:nvPr/>
        </p:nvSpPr>
        <p:spPr>
          <a:xfrm>
            <a:off x="1143000" y="2651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0 a 1 volt</a:t>
            </a:r>
            <a:endParaRPr lang="pt-BR" sz="1400" noProof="0" dirty="0"/>
          </a:p>
        </p:txBody>
      </p:sp>
      <p:sp>
        <p:nvSpPr>
          <p:cNvPr id="10" name="Shape 8"/>
          <p:cNvSpPr/>
          <p:nvPr/>
        </p:nvSpPr>
        <p:spPr>
          <a:xfrm>
            <a:off x="4663440" y="2606040"/>
            <a:ext cx="4114800" cy="1005840"/>
          </a:xfrm>
          <a:prstGeom prst="rect">
            <a:avLst/>
          </a:prstGeom>
          <a:solidFill>
            <a:srgbClr val="EDE9FE"/>
          </a:solidFill>
          <a:ln w="12700">
            <a:solidFill>
              <a:srgbClr val="D0D5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4754880" y="265176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36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sz="3600" noProof="0" dirty="0"/>
          </a:p>
        </p:txBody>
      </p:sp>
      <p:sp>
        <p:nvSpPr>
          <p:cNvPr id="12" name="Text 10"/>
          <p:cNvSpPr/>
          <p:nvPr/>
        </p:nvSpPr>
        <p:spPr>
          <a:xfrm>
            <a:off x="5440680" y="2651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2 a 5 volts</a:t>
            </a:r>
            <a:endParaRPr lang="pt-BR" sz="1400" noProof="0" dirty="0"/>
          </a:p>
        </p:txBody>
      </p:sp>
      <p:sp>
        <p:nvSpPr>
          <p:cNvPr id="13" name="Text 11"/>
          <p:cNvSpPr/>
          <p:nvPr/>
        </p:nvSpPr>
        <p:spPr>
          <a:xfrm>
            <a:off x="365760" y="3749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elementos básicos dos computadores digitais são simples e fundamentados no estudo da lógica.</a:t>
            </a:r>
            <a:endParaRPr lang="pt-BR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Computação • IFF • 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Portas Lógicas</a:t>
            </a:r>
            <a:endParaRPr lang="pt-BR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portas lógicas são dispositivos eletrônicos que executam funções sobre sinais de 2 valores. Um circuito digital pode ser construído a partir de um pequeno número de elementos primitivos. Estas portas constituem a base do hardware sobre o qual todos os computadores são construídos.</a:t>
            </a:r>
            <a:endParaRPr lang="pt-BR" sz="1250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2697480" cy="1280160"/>
          </a:xfrm>
          <a:prstGeom prst="rect">
            <a:avLst/>
          </a:prstGeom>
          <a:solidFill>
            <a:srgbClr val="E0E7FF"/>
          </a:solidFill>
          <a:ln w="12700">
            <a:solidFill>
              <a:srgbClr val="D0D5DD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475488" y="1965960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(.)</a:t>
            </a:r>
            <a:endParaRPr lang="pt-BR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475488" y="2313432"/>
            <a:ext cx="2478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1 somente se TODAS as entradas forem 1</a:t>
            </a:r>
            <a:endParaRPr lang="pt-BR" sz="1100" noProof="0" dirty="0"/>
          </a:p>
        </p:txBody>
      </p:sp>
      <p:sp>
        <p:nvSpPr>
          <p:cNvPr id="8" name="Shape 6"/>
          <p:cNvSpPr/>
          <p:nvPr/>
        </p:nvSpPr>
        <p:spPr>
          <a:xfrm>
            <a:off x="3200400" y="1874520"/>
            <a:ext cx="2697480" cy="1280160"/>
          </a:xfrm>
          <a:prstGeom prst="rect">
            <a:avLst/>
          </a:prstGeom>
          <a:solidFill>
            <a:srgbClr val="DDD6FE"/>
          </a:solidFill>
          <a:ln w="12700">
            <a:solidFill>
              <a:srgbClr val="D0D5DD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3310128" y="1965960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(+)</a:t>
            </a:r>
            <a:endParaRPr lang="pt-BR" sz="1400" noProof="0" dirty="0"/>
          </a:p>
        </p:txBody>
      </p:sp>
      <p:sp>
        <p:nvSpPr>
          <p:cNvPr id="10" name="Text 8"/>
          <p:cNvSpPr/>
          <p:nvPr/>
        </p:nvSpPr>
        <p:spPr>
          <a:xfrm>
            <a:off x="3310128" y="2313432"/>
            <a:ext cx="2478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1 se PELO MENOS UMA entrada for 1</a:t>
            </a:r>
            <a:endParaRPr lang="pt-BR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6035040" y="1874520"/>
            <a:ext cx="2697480" cy="1280160"/>
          </a:xfrm>
          <a:prstGeom prst="rect">
            <a:avLst/>
          </a:prstGeom>
          <a:solidFill>
            <a:srgbClr val="EDE9FE"/>
          </a:solidFill>
          <a:ln w="12700">
            <a:solidFill>
              <a:srgbClr val="D0D5DD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6144768" y="1965960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pt-BR" sz="1400" noProof="0" dirty="0"/>
          </a:p>
        </p:txBody>
      </p:sp>
      <p:sp>
        <p:nvSpPr>
          <p:cNvPr id="13" name="Text 11"/>
          <p:cNvSpPr/>
          <p:nvPr/>
        </p:nvSpPr>
        <p:spPr>
          <a:xfrm>
            <a:off x="6144768" y="2313432"/>
            <a:ext cx="2478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 o sinal: 0 -&gt; 1 e 1 -&gt; 0</a:t>
            </a:r>
            <a:endParaRPr lang="pt-BR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2697480" cy="1280160"/>
          </a:xfrm>
          <a:prstGeom prst="rect">
            <a:avLst/>
          </a:prstGeom>
          <a:solidFill>
            <a:srgbClr val="F3E8FF"/>
          </a:solidFill>
          <a:ln w="12700">
            <a:solidFill>
              <a:srgbClr val="D0D5DD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475488" y="3383280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</a:t>
            </a:r>
            <a:endParaRPr lang="pt-BR" sz="1400" noProof="0" dirty="0"/>
          </a:p>
        </p:txBody>
      </p:sp>
      <p:sp>
        <p:nvSpPr>
          <p:cNvPr id="16" name="Text 14"/>
          <p:cNvSpPr/>
          <p:nvPr/>
        </p:nvSpPr>
        <p:spPr>
          <a:xfrm>
            <a:off x="475488" y="3730752"/>
            <a:ext cx="2478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 do AND: saída 0 somente se todas forem 1</a:t>
            </a:r>
            <a:endParaRPr lang="pt-BR" sz="1100" noProof="0" dirty="0"/>
          </a:p>
        </p:txBody>
      </p:sp>
      <p:sp>
        <p:nvSpPr>
          <p:cNvPr id="17" name="Shape 15"/>
          <p:cNvSpPr/>
          <p:nvPr/>
        </p:nvSpPr>
        <p:spPr>
          <a:xfrm>
            <a:off x="3200400" y="3291840"/>
            <a:ext cx="2697480" cy="1280160"/>
          </a:xfrm>
          <a:prstGeom prst="rect">
            <a:avLst/>
          </a:prstGeom>
          <a:solidFill>
            <a:srgbClr val="FCE7F3"/>
          </a:solidFill>
          <a:ln w="12700">
            <a:solidFill>
              <a:srgbClr val="D0D5DD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3310128" y="3383280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</a:t>
            </a:r>
            <a:endParaRPr lang="pt-BR" sz="1400" noProof="0" dirty="0"/>
          </a:p>
        </p:txBody>
      </p:sp>
      <p:sp>
        <p:nvSpPr>
          <p:cNvPr id="19" name="Text 17"/>
          <p:cNvSpPr/>
          <p:nvPr/>
        </p:nvSpPr>
        <p:spPr>
          <a:xfrm>
            <a:off x="3310128" y="3730752"/>
            <a:ext cx="2478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 do OR: saída 1 somente se todas forem 0</a:t>
            </a:r>
            <a:endParaRPr lang="pt-BR" sz="1100" noProof="0" dirty="0"/>
          </a:p>
        </p:txBody>
      </p:sp>
      <p:sp>
        <p:nvSpPr>
          <p:cNvPr id="20" name="Shape 18"/>
          <p:cNvSpPr/>
          <p:nvPr/>
        </p:nvSpPr>
        <p:spPr>
          <a:xfrm>
            <a:off x="6035040" y="3291840"/>
            <a:ext cx="2697480" cy="1280160"/>
          </a:xfrm>
          <a:prstGeom prst="rect">
            <a:avLst/>
          </a:prstGeom>
          <a:solidFill>
            <a:srgbClr val="FEF3F2"/>
          </a:solidFill>
          <a:ln w="12700">
            <a:solidFill>
              <a:srgbClr val="D0D5DD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6144768" y="3383280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</a:t>
            </a:r>
            <a:endParaRPr lang="pt-BR" sz="1400" noProof="0" dirty="0"/>
          </a:p>
        </p:txBody>
      </p:sp>
      <p:sp>
        <p:nvSpPr>
          <p:cNvPr id="22" name="Text 20"/>
          <p:cNvSpPr/>
          <p:nvPr/>
        </p:nvSpPr>
        <p:spPr>
          <a:xfrm>
            <a:off x="6144768" y="3730752"/>
            <a:ext cx="2478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1 somente quando as entradas são DIFERENTES</a:t>
            </a:r>
            <a:endParaRPr lang="pt-BR" sz="1100" noProof="0" dirty="0"/>
          </a:p>
        </p:txBody>
      </p:sp>
      <p:sp>
        <p:nvSpPr>
          <p:cNvPr id="23" name="Text 21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Computação • IFF • 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Verdade</a:t>
            </a:r>
            <a:endParaRPr lang="pt-BR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 de linhas = 2^n  (n = numero de variáveis)</a:t>
            </a:r>
            <a:endParaRPr lang="pt-BR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621792"/>
          </a:xfrm>
          <a:prstGeom prst="rect">
            <a:avLst/>
          </a:prstGeom>
          <a:solidFill>
            <a:srgbClr val="E0E7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Organiza a primeira linha com as variáveis e operações</a:t>
            </a:r>
            <a:endParaRPr lang="pt-BR" sz="1300" noProof="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8412480" cy="621792"/>
          </a:xfrm>
          <a:prstGeom prst="rect">
            <a:avLst/>
          </a:prstGeom>
          <a:solidFill>
            <a:srgbClr val="DDD6FE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Calcula o numero de linhas: 2^n  (ex.: 3 variáveis -&gt; 2^3 = 8 linhas)</a:t>
            </a:r>
            <a:endParaRPr lang="pt-BR" sz="1300" noProof="0" dirty="0"/>
          </a:p>
        </p:txBody>
      </p:sp>
      <p:sp>
        <p:nvSpPr>
          <p:cNvPr id="9" name="Shape 7"/>
          <p:cNvSpPr/>
          <p:nvPr/>
        </p:nvSpPr>
        <p:spPr>
          <a:xfrm>
            <a:off x="365760" y="2880360"/>
            <a:ext cx="8412480" cy="621792"/>
          </a:xfrm>
          <a:prstGeom prst="rect">
            <a:avLst/>
          </a:prstGeom>
          <a:solidFill>
            <a:srgbClr val="EDE9FE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502920" y="29260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Distribui uniformemente os valores para cada coluna, seguindo a ordem de precedência</a:t>
            </a:r>
            <a:endParaRPr lang="pt-BR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365760" y="32735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Tabela Verdade de A AND B</a:t>
            </a:r>
            <a:endParaRPr lang="pt-BR" sz="1200" noProof="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404763"/>
              </p:ext>
            </p:extLst>
          </p:nvPr>
        </p:nvGraphicFramePr>
        <p:xfrm>
          <a:off x="2286000" y="3593592"/>
          <a:ext cx="4572000" cy="1371600"/>
        </p:xfrm>
        <a:graphic>
          <a:graphicData uri="http://schemas.openxmlformats.org/drawingml/2006/table">
            <a:tbl>
              <a:tblPr/>
              <a:tblGrid>
                <a:gridCol w="1527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7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. B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Computação • IFF • 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 de Boole — Operações Básicas</a:t>
            </a:r>
            <a:endParaRPr lang="pt-BR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115568"/>
          </a:xfrm>
          <a:prstGeom prst="rect">
            <a:avLst/>
          </a:prstGeom>
          <a:solidFill>
            <a:srgbClr val="EDE9FE"/>
          </a:solidFill>
          <a:ln w="12700">
            <a:solidFill>
              <a:srgbClr val="D0D5DD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(Complemento)</a:t>
            </a:r>
            <a:endParaRPr lang="pt-BR" sz="1500" noProof="0" dirty="0"/>
          </a:p>
        </p:txBody>
      </p:sp>
      <p:sp>
        <p:nvSpPr>
          <p:cNvPr id="6" name="Text 4"/>
          <p:cNvSpPr/>
          <p:nvPr/>
        </p:nvSpPr>
        <p:spPr>
          <a:xfrm>
            <a:off x="502920" y="142646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200" b="1" noProof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x-bar</a:t>
            </a:r>
            <a:endParaRPr lang="pt-BR" sz="2200" noProof="0" dirty="0"/>
          </a:p>
        </p:txBody>
      </p:sp>
      <p:sp>
        <p:nvSpPr>
          <p:cNvPr id="7" name="Text 5"/>
          <p:cNvSpPr/>
          <p:nvPr/>
        </p:nvSpPr>
        <p:spPr>
          <a:xfrm>
            <a:off x="3931920" y="10972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 o valor da variável: se x = 1, então x-bar = 0</a:t>
            </a:r>
            <a:endParaRPr lang="pt-BR" sz="1300" noProof="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8412480" cy="1115568"/>
          </a:xfrm>
          <a:prstGeom prst="rect">
            <a:avLst/>
          </a:prstGeom>
          <a:solidFill>
            <a:srgbClr val="E0E7FF"/>
          </a:solidFill>
          <a:ln w="12700">
            <a:solidFill>
              <a:srgbClr val="D0D5DD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502920" y="23134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(Produto)</a:t>
            </a:r>
            <a:endParaRPr lang="pt-BR" sz="1500" noProof="0" dirty="0"/>
          </a:p>
        </p:txBody>
      </p:sp>
      <p:sp>
        <p:nvSpPr>
          <p:cNvPr id="10" name="Text 8"/>
          <p:cNvSpPr/>
          <p:nvPr/>
        </p:nvSpPr>
        <p:spPr>
          <a:xfrm>
            <a:off x="502920" y="266090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200" b="1" noProof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. y</a:t>
            </a:r>
            <a:endParaRPr lang="pt-BR" sz="2200" noProof="0" dirty="0"/>
          </a:p>
        </p:txBody>
      </p:sp>
      <p:sp>
        <p:nvSpPr>
          <p:cNvPr id="11" name="Text 9"/>
          <p:cNvSpPr/>
          <p:nvPr/>
        </p:nvSpPr>
        <p:spPr>
          <a:xfrm>
            <a:off x="3931920" y="23317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1 somente quando x = 1 E y = 1</a:t>
            </a:r>
            <a:endParaRPr lang="pt-BR" sz="1300" noProof="0" dirty="0"/>
          </a:p>
        </p:txBody>
      </p:sp>
      <p:sp>
        <p:nvSpPr>
          <p:cNvPr id="12" name="Shape 10"/>
          <p:cNvSpPr/>
          <p:nvPr/>
        </p:nvSpPr>
        <p:spPr>
          <a:xfrm>
            <a:off x="365760" y="3474720"/>
            <a:ext cx="8412480" cy="1115568"/>
          </a:xfrm>
          <a:prstGeom prst="rect">
            <a:avLst/>
          </a:prstGeom>
          <a:solidFill>
            <a:srgbClr val="DDD6FE"/>
          </a:solidFill>
          <a:ln w="12700">
            <a:solidFill>
              <a:srgbClr val="D0D5DD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502920" y="35478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 (Soma)</a:t>
            </a:r>
            <a:endParaRPr lang="pt-BR" sz="1500" noProof="0" dirty="0"/>
          </a:p>
        </p:txBody>
      </p:sp>
      <p:sp>
        <p:nvSpPr>
          <p:cNvPr id="14" name="Text 12"/>
          <p:cNvSpPr/>
          <p:nvPr/>
        </p:nvSpPr>
        <p:spPr>
          <a:xfrm>
            <a:off x="502920" y="389534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200" b="1" noProof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+ y</a:t>
            </a:r>
            <a:endParaRPr lang="pt-BR" sz="2200" noProof="0" dirty="0"/>
          </a:p>
        </p:txBody>
      </p:sp>
      <p:sp>
        <p:nvSpPr>
          <p:cNvPr id="15" name="Text 13"/>
          <p:cNvSpPr/>
          <p:nvPr/>
        </p:nvSpPr>
        <p:spPr>
          <a:xfrm>
            <a:off x="3931920" y="35661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1 quando x = 1 OU y = 1 (ou ambos)</a:t>
            </a:r>
            <a:endParaRPr lang="pt-BR" sz="1300" noProof="0" dirty="0"/>
          </a:p>
        </p:txBody>
      </p:sp>
      <p:sp>
        <p:nvSpPr>
          <p:cNvPr id="16" name="Text 14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Computação • IFF • 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Expressão Booleana</a:t>
            </a:r>
            <a:endParaRPr lang="pt-BR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777240"/>
          </a:xfrm>
          <a:prstGeom prst="rect">
            <a:avLst/>
          </a:prstGeom>
          <a:solidFill>
            <a:srgbClr val="E0E7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expressão booleana e formada por sinais de entrada (variáveis de entrada) ligados por conectivos lógicos, produzindo como resultado um único sinal de saída.</a:t>
            </a:r>
            <a:endParaRPr lang="pt-BR" sz="1250" noProof="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de Precedência:</a:t>
            </a:r>
            <a:endParaRPr lang="pt-BR" sz="1400" noProof="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2011680" cy="1371600"/>
          </a:xfrm>
          <a:prstGeom prst="rect">
            <a:avLst/>
          </a:prstGeom>
          <a:solidFill>
            <a:srgbClr val="F3E8FF"/>
          </a:solidFill>
          <a:ln w="12700">
            <a:solidFill>
              <a:srgbClr val="D0D5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239572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0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pt-BR" sz="2000" noProof="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Parênteses ( )</a:t>
            </a:r>
            <a:endParaRPr lang="pt-BR" sz="1400" noProof="0" dirty="0"/>
          </a:p>
        </p:txBody>
      </p:sp>
      <p:sp>
        <p:nvSpPr>
          <p:cNvPr id="10" name="Text 8"/>
          <p:cNvSpPr/>
          <p:nvPr/>
        </p:nvSpPr>
        <p:spPr>
          <a:xfrm>
            <a:off x="457200" y="31272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avaliados primeiro</a:t>
            </a:r>
            <a:endParaRPr lang="pt-BR" sz="1050" noProof="0" dirty="0"/>
          </a:p>
        </p:txBody>
      </p:sp>
      <p:sp>
        <p:nvSpPr>
          <p:cNvPr id="11" name="Shape 9"/>
          <p:cNvSpPr/>
          <p:nvPr/>
        </p:nvSpPr>
        <p:spPr>
          <a:xfrm>
            <a:off x="2514600" y="2331720"/>
            <a:ext cx="2011680" cy="1371600"/>
          </a:xfrm>
          <a:prstGeom prst="rect">
            <a:avLst/>
          </a:prstGeom>
          <a:solidFill>
            <a:srgbClr val="EDE9FE"/>
          </a:solidFill>
          <a:ln w="12700">
            <a:solidFill>
              <a:srgbClr val="D0D5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2606040" y="239572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0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pt-BR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2606040" y="2743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pt-BR" sz="1400" noProof="0" dirty="0"/>
          </a:p>
        </p:txBody>
      </p:sp>
      <p:sp>
        <p:nvSpPr>
          <p:cNvPr id="14" name="Text 12"/>
          <p:cNvSpPr/>
          <p:nvPr/>
        </p:nvSpPr>
        <p:spPr>
          <a:xfrm>
            <a:off x="2606040" y="31272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Negação tem maior precedência</a:t>
            </a:r>
            <a:endParaRPr lang="pt-BR" sz="1050" noProof="0" dirty="0"/>
          </a:p>
        </p:txBody>
      </p:sp>
      <p:sp>
        <p:nvSpPr>
          <p:cNvPr id="15" name="Shape 13"/>
          <p:cNvSpPr/>
          <p:nvPr/>
        </p:nvSpPr>
        <p:spPr>
          <a:xfrm>
            <a:off x="4663440" y="2331720"/>
            <a:ext cx="2011680" cy="1371600"/>
          </a:xfrm>
          <a:prstGeom prst="rect">
            <a:avLst/>
          </a:prstGeom>
          <a:solidFill>
            <a:srgbClr val="E0E7FF"/>
          </a:solidFill>
          <a:ln w="12700">
            <a:solidFill>
              <a:srgbClr val="D0D5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4754880" y="239572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0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pt-BR" sz="2000" noProof="0" dirty="0"/>
          </a:p>
        </p:txBody>
      </p:sp>
      <p:sp>
        <p:nvSpPr>
          <p:cNvPr id="17" name="Text 15"/>
          <p:cNvSpPr/>
          <p:nvPr/>
        </p:nvSpPr>
        <p:spPr>
          <a:xfrm>
            <a:off x="4754880" y="2743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 ( . )</a:t>
            </a:r>
            <a:endParaRPr lang="pt-BR" sz="1400" noProof="0" dirty="0"/>
          </a:p>
        </p:txBody>
      </p:sp>
      <p:sp>
        <p:nvSpPr>
          <p:cNvPr id="18" name="Text 16"/>
          <p:cNvSpPr/>
          <p:nvPr/>
        </p:nvSpPr>
        <p:spPr>
          <a:xfrm>
            <a:off x="4754880" y="31272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Conjunção antes da disjunção</a:t>
            </a:r>
            <a:endParaRPr lang="pt-BR" sz="1050" noProof="0" dirty="0"/>
          </a:p>
        </p:txBody>
      </p:sp>
      <p:sp>
        <p:nvSpPr>
          <p:cNvPr id="19" name="Shape 17"/>
          <p:cNvSpPr/>
          <p:nvPr/>
        </p:nvSpPr>
        <p:spPr>
          <a:xfrm>
            <a:off x="6812280" y="2331720"/>
            <a:ext cx="2011680" cy="1371600"/>
          </a:xfrm>
          <a:prstGeom prst="rect">
            <a:avLst/>
          </a:prstGeom>
          <a:solidFill>
            <a:srgbClr val="DDD6FE"/>
          </a:solidFill>
          <a:ln w="12700">
            <a:solidFill>
              <a:srgbClr val="D0D5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8"/>
          <p:cNvSpPr/>
          <p:nvPr/>
        </p:nvSpPr>
        <p:spPr>
          <a:xfrm>
            <a:off x="6903720" y="239572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0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pt-BR" sz="2000" noProof="0" dirty="0"/>
          </a:p>
        </p:txBody>
      </p:sp>
      <p:sp>
        <p:nvSpPr>
          <p:cNvPr id="21" name="Text 19"/>
          <p:cNvSpPr/>
          <p:nvPr/>
        </p:nvSpPr>
        <p:spPr>
          <a:xfrm>
            <a:off x="6903720" y="2743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 ( + )</a:t>
            </a:r>
            <a:endParaRPr lang="pt-BR" sz="1400" noProof="0" dirty="0"/>
          </a:p>
        </p:txBody>
      </p:sp>
      <p:sp>
        <p:nvSpPr>
          <p:cNvPr id="22" name="Text 20"/>
          <p:cNvSpPr/>
          <p:nvPr/>
        </p:nvSpPr>
        <p:spPr>
          <a:xfrm>
            <a:off x="6903720" y="31272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Disjunção avaliada por ultimo</a:t>
            </a:r>
            <a:endParaRPr lang="pt-BR" sz="1050" noProof="0" dirty="0"/>
          </a:p>
        </p:txBody>
      </p:sp>
      <p:sp>
        <p:nvSpPr>
          <p:cNvPr id="23" name="Shape 21"/>
          <p:cNvSpPr/>
          <p:nvPr/>
        </p:nvSpPr>
        <p:spPr>
          <a:xfrm>
            <a:off x="365760" y="3840480"/>
            <a:ext cx="8412480" cy="594360"/>
          </a:xfrm>
          <a:prstGeom prst="rect">
            <a:avLst/>
          </a:prstGeom>
          <a:solidFill>
            <a:srgbClr val="FEF9C3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Text 22"/>
          <p:cNvSpPr/>
          <p:nvPr/>
        </p:nvSpPr>
        <p:spPr>
          <a:xfrm>
            <a:off x="502920" y="3886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50" noProof="0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Obs.: respeite sempre os parênteses! Eles tem prioridade máxima sobre qualquer operador.</a:t>
            </a:r>
            <a:endParaRPr lang="pt-BR" sz="1250" noProof="0" dirty="0"/>
          </a:p>
        </p:txBody>
      </p:sp>
      <p:sp>
        <p:nvSpPr>
          <p:cNvPr id="25" name="Text 23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Computação • IFF • 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Equivalência de Funções Lógicas</a:t>
            </a:r>
            <a:endParaRPr lang="pt-BR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914400"/>
          </a:xfrm>
          <a:prstGeom prst="rect">
            <a:avLst/>
          </a:prstGeom>
          <a:solidFill>
            <a:srgbClr val="DDD6F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funções Booleanas são equivalentes se — e somente se — para a mesma entrada, produzirem iguais valores de saída.</a:t>
            </a:r>
            <a:endParaRPr lang="pt-BR" sz="1400" noProof="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73152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FUNÇÕES LÓGICAS EQUIVALENTES TEM A MESMA TABELA VERDADE</a:t>
            </a:r>
            <a:endParaRPr lang="pt-BR" sz="1400" noProof="0" dirty="0"/>
          </a:p>
        </p:txBody>
      </p:sp>
      <p:sp>
        <p:nvSpPr>
          <p:cNvPr id="8" name="Text 6"/>
          <p:cNvSpPr/>
          <p:nvPr/>
        </p:nvSpPr>
        <p:spPr>
          <a:xfrm>
            <a:off x="365760" y="28529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verificar equivalência:</a:t>
            </a:r>
            <a:endParaRPr lang="pt-BR" sz="1300" noProof="0" dirty="0"/>
          </a:p>
        </p:txBody>
      </p:sp>
      <p:sp>
        <p:nvSpPr>
          <p:cNvPr id="9" name="Shape 7"/>
          <p:cNvSpPr/>
          <p:nvPr/>
        </p:nvSpPr>
        <p:spPr>
          <a:xfrm>
            <a:off x="365760" y="3291840"/>
            <a:ext cx="8412480" cy="438912"/>
          </a:xfrm>
          <a:prstGeom prst="rect">
            <a:avLst/>
          </a:prstGeom>
          <a:solidFill>
            <a:srgbClr val="E0E7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502920" y="33192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Monte a tabela verdade para a FUNÇÃO f1</a:t>
            </a:r>
            <a:endParaRPr lang="pt-BR" sz="1250" noProof="0" dirty="0"/>
          </a:p>
        </p:txBody>
      </p:sp>
      <p:sp>
        <p:nvSpPr>
          <p:cNvPr id="11" name="Shape 9"/>
          <p:cNvSpPr/>
          <p:nvPr/>
        </p:nvSpPr>
        <p:spPr>
          <a:xfrm>
            <a:off x="365760" y="3794760"/>
            <a:ext cx="8412480" cy="438912"/>
          </a:xfrm>
          <a:prstGeom prst="rect">
            <a:avLst/>
          </a:prstGeom>
          <a:solidFill>
            <a:srgbClr val="EDE9FE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502920" y="38221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2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Monte a tabela verdade para a FUNÇÃO f2</a:t>
            </a:r>
            <a:endParaRPr lang="pt-BR" sz="1250" noProof="0" dirty="0"/>
          </a:p>
        </p:txBody>
      </p:sp>
      <p:sp>
        <p:nvSpPr>
          <p:cNvPr id="13" name="Shape 11"/>
          <p:cNvSpPr/>
          <p:nvPr/>
        </p:nvSpPr>
        <p:spPr>
          <a:xfrm>
            <a:off x="365760" y="4297680"/>
            <a:ext cx="8412480" cy="438912"/>
          </a:xfrm>
          <a:prstGeom prst="rect">
            <a:avLst/>
          </a:prstGeom>
          <a:solidFill>
            <a:srgbClr val="E0E7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502920" y="432511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Compare coluna a coluna: se idênticas, as funções são equivalentes (f1 = f2)</a:t>
            </a:r>
            <a:endParaRPr lang="pt-BR" sz="1250" noProof="0" dirty="0"/>
          </a:p>
        </p:txBody>
      </p:sp>
      <p:sp>
        <p:nvSpPr>
          <p:cNvPr id="15" name="Text 13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Computação • IFF • 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Propriedades da Álgebra de Boole</a:t>
            </a:r>
            <a:endParaRPr lang="pt-BR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2004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</a:t>
            </a:r>
            <a:endParaRPr lang="pt-BR" sz="1200" noProof="0" dirty="0"/>
          </a:p>
        </p:txBody>
      </p:sp>
      <p:sp>
        <p:nvSpPr>
          <p:cNvPr id="6" name="Shape 4"/>
          <p:cNvSpPr/>
          <p:nvPr/>
        </p:nvSpPr>
        <p:spPr>
          <a:xfrm>
            <a:off x="3611880" y="960120"/>
            <a:ext cx="260604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3611880" y="9601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AND (.)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6263640" y="960120"/>
            <a:ext cx="251460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6263640" y="9601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OR (+)</a:t>
            </a:r>
            <a:endParaRPr lang="pt-BR" sz="1200" noProof="0" dirty="0"/>
          </a:p>
        </p:txBody>
      </p:sp>
      <p:sp>
        <p:nvSpPr>
          <p:cNvPr id="10" name="Shape 8"/>
          <p:cNvSpPr/>
          <p:nvPr/>
        </p:nvSpPr>
        <p:spPr>
          <a:xfrm>
            <a:off x="365760" y="1335024"/>
            <a:ext cx="84124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457200" y="137160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</a:t>
            </a:r>
            <a:endParaRPr lang="pt-BR" sz="1100" noProof="0" dirty="0"/>
          </a:p>
        </p:txBody>
      </p:sp>
      <p:sp>
        <p:nvSpPr>
          <p:cNvPr id="12" name="Text 10"/>
          <p:cNvSpPr/>
          <p:nvPr/>
        </p:nvSpPr>
        <p:spPr>
          <a:xfrm>
            <a:off x="3611880" y="137160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. 1 = x</a:t>
            </a:r>
            <a:endParaRPr lang="pt-BR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6263640" y="137160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+ 0 = x</a:t>
            </a:r>
            <a:endParaRPr lang="pt-BR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365760" y="1773936"/>
            <a:ext cx="8412480" cy="402336"/>
          </a:xfrm>
          <a:prstGeom prst="rect">
            <a:avLst/>
          </a:prstGeom>
          <a:solidFill>
            <a:srgbClr val="E0E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457200" y="181051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Nulidade</a:t>
            </a:r>
            <a:endParaRPr lang="pt-BR" sz="1100" noProof="0" dirty="0"/>
          </a:p>
        </p:txBody>
      </p:sp>
      <p:sp>
        <p:nvSpPr>
          <p:cNvPr id="16" name="Text 14"/>
          <p:cNvSpPr/>
          <p:nvPr/>
        </p:nvSpPr>
        <p:spPr>
          <a:xfrm>
            <a:off x="3611880" y="1810512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. 0 = 0</a:t>
            </a:r>
            <a:endParaRPr lang="pt-BR" sz="1100" noProof="0" dirty="0"/>
          </a:p>
        </p:txBody>
      </p:sp>
      <p:sp>
        <p:nvSpPr>
          <p:cNvPr id="17" name="Text 15"/>
          <p:cNvSpPr/>
          <p:nvPr/>
        </p:nvSpPr>
        <p:spPr>
          <a:xfrm>
            <a:off x="6263640" y="181051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+ 1 = 1</a:t>
            </a:r>
            <a:endParaRPr lang="pt-BR" sz="1100" noProof="0" dirty="0"/>
          </a:p>
        </p:txBody>
      </p:sp>
      <p:sp>
        <p:nvSpPr>
          <p:cNvPr id="18" name="Shape 16"/>
          <p:cNvSpPr/>
          <p:nvPr/>
        </p:nvSpPr>
        <p:spPr>
          <a:xfrm>
            <a:off x="365760" y="2212848"/>
            <a:ext cx="84124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7"/>
          <p:cNvSpPr/>
          <p:nvPr/>
        </p:nvSpPr>
        <p:spPr>
          <a:xfrm>
            <a:off x="457200" y="224942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Idempotencia</a:t>
            </a:r>
            <a:endParaRPr lang="pt-BR" sz="1100" noProof="0" dirty="0"/>
          </a:p>
        </p:txBody>
      </p:sp>
      <p:sp>
        <p:nvSpPr>
          <p:cNvPr id="20" name="Text 18"/>
          <p:cNvSpPr/>
          <p:nvPr/>
        </p:nvSpPr>
        <p:spPr>
          <a:xfrm>
            <a:off x="3611880" y="2249424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. x = x</a:t>
            </a:r>
            <a:endParaRPr lang="pt-BR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6263640" y="224942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+ x = x</a:t>
            </a:r>
            <a:endParaRPr lang="pt-BR" sz="1100" noProof="0" dirty="0"/>
          </a:p>
        </p:txBody>
      </p:sp>
      <p:sp>
        <p:nvSpPr>
          <p:cNvPr id="22" name="Shape 20"/>
          <p:cNvSpPr/>
          <p:nvPr/>
        </p:nvSpPr>
        <p:spPr>
          <a:xfrm>
            <a:off x="365760" y="2651760"/>
            <a:ext cx="8412480" cy="402336"/>
          </a:xfrm>
          <a:prstGeom prst="rect">
            <a:avLst/>
          </a:prstGeom>
          <a:solidFill>
            <a:srgbClr val="E0E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457200" y="268833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</a:t>
            </a:r>
            <a:endParaRPr lang="pt-BR" sz="1100" noProof="0" dirty="0"/>
          </a:p>
        </p:txBody>
      </p:sp>
      <p:sp>
        <p:nvSpPr>
          <p:cNvPr id="24" name="Text 22"/>
          <p:cNvSpPr/>
          <p:nvPr/>
        </p:nvSpPr>
        <p:spPr>
          <a:xfrm>
            <a:off x="3611880" y="2688336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. x' = 0</a:t>
            </a:r>
            <a:endParaRPr lang="pt-BR" sz="1100" noProof="0" dirty="0"/>
          </a:p>
        </p:txBody>
      </p:sp>
      <p:sp>
        <p:nvSpPr>
          <p:cNvPr id="25" name="Text 23"/>
          <p:cNvSpPr/>
          <p:nvPr/>
        </p:nvSpPr>
        <p:spPr>
          <a:xfrm>
            <a:off x="6263640" y="2688336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+ x' = 1</a:t>
            </a:r>
            <a:endParaRPr lang="pt-BR" sz="1100" noProof="0" dirty="0"/>
          </a:p>
        </p:txBody>
      </p:sp>
      <p:sp>
        <p:nvSpPr>
          <p:cNvPr id="26" name="Shape 24"/>
          <p:cNvSpPr/>
          <p:nvPr/>
        </p:nvSpPr>
        <p:spPr>
          <a:xfrm>
            <a:off x="365760" y="3090672"/>
            <a:ext cx="84124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5"/>
          <p:cNvSpPr/>
          <p:nvPr/>
        </p:nvSpPr>
        <p:spPr>
          <a:xfrm>
            <a:off x="457200" y="312724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Comutatividade</a:t>
            </a:r>
            <a:endParaRPr lang="pt-BR" sz="1100" noProof="0" dirty="0"/>
          </a:p>
        </p:txBody>
      </p:sp>
      <p:sp>
        <p:nvSpPr>
          <p:cNvPr id="28" name="Text 26"/>
          <p:cNvSpPr/>
          <p:nvPr/>
        </p:nvSpPr>
        <p:spPr>
          <a:xfrm>
            <a:off x="3611880" y="312724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. y = y . x</a:t>
            </a:r>
            <a:endParaRPr lang="pt-BR" sz="1100" noProof="0" dirty="0"/>
          </a:p>
        </p:txBody>
      </p:sp>
      <p:sp>
        <p:nvSpPr>
          <p:cNvPr id="29" name="Text 27"/>
          <p:cNvSpPr/>
          <p:nvPr/>
        </p:nvSpPr>
        <p:spPr>
          <a:xfrm>
            <a:off x="6263640" y="3127248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+ y = y + x</a:t>
            </a:r>
            <a:endParaRPr lang="pt-BR" sz="1100" noProof="0" dirty="0"/>
          </a:p>
        </p:txBody>
      </p:sp>
      <p:sp>
        <p:nvSpPr>
          <p:cNvPr id="30" name="Shape 28"/>
          <p:cNvSpPr/>
          <p:nvPr/>
        </p:nvSpPr>
        <p:spPr>
          <a:xfrm>
            <a:off x="365760" y="3529584"/>
            <a:ext cx="8412480" cy="402336"/>
          </a:xfrm>
          <a:prstGeom prst="rect">
            <a:avLst/>
          </a:prstGeom>
          <a:solidFill>
            <a:srgbClr val="E0E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1" name="Text 29"/>
          <p:cNvSpPr/>
          <p:nvPr/>
        </p:nvSpPr>
        <p:spPr>
          <a:xfrm>
            <a:off x="457200" y="35661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Associatividade</a:t>
            </a:r>
            <a:endParaRPr lang="pt-BR" sz="1100" noProof="0" dirty="0"/>
          </a:p>
        </p:txBody>
      </p:sp>
      <p:sp>
        <p:nvSpPr>
          <p:cNvPr id="32" name="Text 30"/>
          <p:cNvSpPr/>
          <p:nvPr/>
        </p:nvSpPr>
        <p:spPr>
          <a:xfrm>
            <a:off x="3611880" y="356616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(x.y).z = x.(y.z)</a:t>
            </a:r>
            <a:endParaRPr lang="pt-BR" sz="1100" noProof="0" dirty="0"/>
          </a:p>
        </p:txBody>
      </p:sp>
      <p:sp>
        <p:nvSpPr>
          <p:cNvPr id="33" name="Text 31"/>
          <p:cNvSpPr/>
          <p:nvPr/>
        </p:nvSpPr>
        <p:spPr>
          <a:xfrm>
            <a:off x="6263640" y="356616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(x+y)+z = x+(y+z)</a:t>
            </a:r>
            <a:endParaRPr lang="pt-BR" sz="1100" noProof="0" dirty="0"/>
          </a:p>
        </p:txBody>
      </p:sp>
      <p:sp>
        <p:nvSpPr>
          <p:cNvPr id="34" name="Shape 32"/>
          <p:cNvSpPr/>
          <p:nvPr/>
        </p:nvSpPr>
        <p:spPr>
          <a:xfrm>
            <a:off x="365760" y="3968496"/>
            <a:ext cx="84124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5" name="Text 33"/>
          <p:cNvSpPr/>
          <p:nvPr/>
        </p:nvSpPr>
        <p:spPr>
          <a:xfrm>
            <a:off x="457200" y="400507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Distributividade</a:t>
            </a:r>
            <a:endParaRPr lang="pt-BR" sz="1100" noProof="0" dirty="0"/>
          </a:p>
        </p:txBody>
      </p:sp>
      <p:sp>
        <p:nvSpPr>
          <p:cNvPr id="36" name="Text 34"/>
          <p:cNvSpPr/>
          <p:nvPr/>
        </p:nvSpPr>
        <p:spPr>
          <a:xfrm>
            <a:off x="3611880" y="4005072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x.(y+z) = xy+xz</a:t>
            </a:r>
            <a:endParaRPr lang="pt-BR" sz="1100" noProof="0" dirty="0"/>
          </a:p>
        </p:txBody>
      </p:sp>
      <p:sp>
        <p:nvSpPr>
          <p:cNvPr id="37" name="Text 35"/>
          <p:cNvSpPr/>
          <p:nvPr/>
        </p:nvSpPr>
        <p:spPr>
          <a:xfrm>
            <a:off x="6263640" y="400507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x+(y.z) = (x+y).(x+z)</a:t>
            </a:r>
            <a:endParaRPr lang="pt-BR" sz="1100" noProof="0" dirty="0"/>
          </a:p>
        </p:txBody>
      </p:sp>
      <p:sp>
        <p:nvSpPr>
          <p:cNvPr id="38" name="Shape 36"/>
          <p:cNvSpPr/>
          <p:nvPr/>
        </p:nvSpPr>
        <p:spPr>
          <a:xfrm>
            <a:off x="365760" y="4407408"/>
            <a:ext cx="8412480" cy="402336"/>
          </a:xfrm>
          <a:prstGeom prst="rect">
            <a:avLst/>
          </a:prstGeom>
          <a:solidFill>
            <a:srgbClr val="E0E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9" name="Text 37"/>
          <p:cNvSpPr/>
          <p:nvPr/>
        </p:nvSpPr>
        <p:spPr>
          <a:xfrm>
            <a:off x="457200" y="444398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Morgan</a:t>
            </a:r>
            <a:endParaRPr lang="pt-BR" sz="1100" noProof="0" dirty="0"/>
          </a:p>
        </p:txBody>
      </p:sp>
      <p:sp>
        <p:nvSpPr>
          <p:cNvPr id="40" name="Text 38"/>
          <p:cNvSpPr/>
          <p:nvPr/>
        </p:nvSpPr>
        <p:spPr>
          <a:xfrm>
            <a:off x="3611880" y="4443984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(x.y)' = x' + y'</a:t>
            </a:r>
            <a:endParaRPr lang="pt-BR" sz="1100" noProof="0" dirty="0"/>
          </a:p>
        </p:txBody>
      </p:sp>
      <p:sp>
        <p:nvSpPr>
          <p:cNvPr id="41" name="Text 39"/>
          <p:cNvSpPr/>
          <p:nvPr/>
        </p:nvSpPr>
        <p:spPr>
          <a:xfrm>
            <a:off x="6263640" y="444398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(x+y)' = x' . y'</a:t>
            </a:r>
            <a:endParaRPr lang="pt-BR" sz="1100" noProof="0" dirty="0"/>
          </a:p>
        </p:txBody>
      </p:sp>
      <p:sp>
        <p:nvSpPr>
          <p:cNvPr id="42" name="Text 40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Computação • IFF • 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Propriedades da Função XOR</a:t>
            </a:r>
            <a:endParaRPr lang="pt-BR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60520" cy="1078992"/>
          </a:xfrm>
          <a:prstGeom prst="rect">
            <a:avLst/>
          </a:prstGeom>
          <a:solidFill>
            <a:srgbClr val="E0E7FF"/>
          </a:solidFill>
          <a:ln w="12700">
            <a:solidFill>
              <a:srgbClr val="D0D5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XOR 0 = x</a:t>
            </a:r>
            <a:endParaRPr lang="pt-BR" sz="18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Identidade: XOR com 0 não altera o valor</a:t>
            </a:r>
            <a:endParaRPr lang="pt-BR" sz="1150" noProof="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60520" cy="1078992"/>
          </a:xfrm>
          <a:prstGeom prst="rect">
            <a:avLst/>
          </a:prstGeom>
          <a:solidFill>
            <a:srgbClr val="DDD6FE"/>
          </a:solidFill>
          <a:ln w="12700">
            <a:solidFill>
              <a:srgbClr val="D0D5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4800600" y="109728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XOR 1 = x'</a:t>
            </a:r>
            <a:endParaRPr lang="pt-BR" sz="1800" noProof="0" dirty="0"/>
          </a:p>
        </p:txBody>
      </p:sp>
      <p:sp>
        <p:nvSpPr>
          <p:cNvPr id="9" name="Text 7"/>
          <p:cNvSpPr/>
          <p:nvPr/>
        </p:nvSpPr>
        <p:spPr>
          <a:xfrm>
            <a:off x="4800600" y="1536192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Complemento: XOR com 1 inverte o valor</a:t>
            </a:r>
            <a:endParaRPr lang="pt-BR" sz="1150" noProof="0" dirty="0"/>
          </a:p>
        </p:txBody>
      </p:sp>
      <p:sp>
        <p:nvSpPr>
          <p:cNvPr id="10" name="Shape 8"/>
          <p:cNvSpPr/>
          <p:nvPr/>
        </p:nvSpPr>
        <p:spPr>
          <a:xfrm>
            <a:off x="320040" y="2194560"/>
            <a:ext cx="4160520" cy="1078992"/>
          </a:xfrm>
          <a:prstGeom prst="rect">
            <a:avLst/>
          </a:prstGeom>
          <a:solidFill>
            <a:srgbClr val="EDE9FE"/>
          </a:solidFill>
          <a:ln w="12700">
            <a:solidFill>
              <a:srgbClr val="D0D5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XOR x = 0</a:t>
            </a:r>
            <a:endParaRPr lang="pt-BR" sz="1800" noProof="0" dirty="0"/>
          </a:p>
        </p:txBody>
      </p:sp>
      <p:sp>
        <p:nvSpPr>
          <p:cNvPr id="12" name="Text 10"/>
          <p:cNvSpPr/>
          <p:nvPr/>
        </p:nvSpPr>
        <p:spPr>
          <a:xfrm>
            <a:off x="457200" y="2724912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inversão: XOR consigo mesmo = 0</a:t>
            </a:r>
            <a:endParaRPr lang="pt-BR" sz="1150" noProof="0" dirty="0"/>
          </a:p>
        </p:txBody>
      </p:sp>
      <p:sp>
        <p:nvSpPr>
          <p:cNvPr id="13" name="Shape 11"/>
          <p:cNvSpPr/>
          <p:nvPr/>
        </p:nvSpPr>
        <p:spPr>
          <a:xfrm>
            <a:off x="4663440" y="2194560"/>
            <a:ext cx="4160520" cy="1078992"/>
          </a:xfrm>
          <a:prstGeom prst="rect">
            <a:avLst/>
          </a:prstGeom>
          <a:solidFill>
            <a:srgbClr val="F3E8FF"/>
          </a:solidFill>
          <a:ln w="12700">
            <a:solidFill>
              <a:srgbClr val="D0D5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4800600" y="228600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XOR x' = 1</a:t>
            </a:r>
            <a:endParaRPr lang="pt-BR" sz="1800" noProof="0" dirty="0"/>
          </a:p>
        </p:txBody>
      </p:sp>
      <p:sp>
        <p:nvSpPr>
          <p:cNvPr id="15" name="Text 13"/>
          <p:cNvSpPr/>
          <p:nvPr/>
        </p:nvSpPr>
        <p:spPr>
          <a:xfrm>
            <a:off x="4800600" y="2724912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com complemento = 1</a:t>
            </a:r>
            <a:endParaRPr lang="pt-BR" sz="1150" noProof="0" dirty="0"/>
          </a:p>
        </p:txBody>
      </p:sp>
      <p:sp>
        <p:nvSpPr>
          <p:cNvPr id="16" name="Shape 14"/>
          <p:cNvSpPr/>
          <p:nvPr/>
        </p:nvSpPr>
        <p:spPr>
          <a:xfrm>
            <a:off x="320040" y="3383280"/>
            <a:ext cx="4160520" cy="1078992"/>
          </a:xfrm>
          <a:prstGeom prst="rect">
            <a:avLst/>
          </a:prstGeom>
          <a:solidFill>
            <a:srgbClr val="FCE7F3"/>
          </a:solidFill>
          <a:ln w="12700">
            <a:solidFill>
              <a:srgbClr val="D0D5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XOR y = y XOR x</a:t>
            </a:r>
            <a:endParaRPr lang="pt-BR" sz="1800" noProof="0" dirty="0"/>
          </a:p>
        </p:txBody>
      </p:sp>
      <p:sp>
        <p:nvSpPr>
          <p:cNvPr id="18" name="Text 16"/>
          <p:cNvSpPr/>
          <p:nvPr/>
        </p:nvSpPr>
        <p:spPr>
          <a:xfrm>
            <a:off x="457200" y="3913632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Comutatividade</a:t>
            </a:r>
            <a:endParaRPr lang="pt-BR" sz="1150" noProof="0" dirty="0"/>
          </a:p>
        </p:txBody>
      </p:sp>
      <p:sp>
        <p:nvSpPr>
          <p:cNvPr id="19" name="Shape 17"/>
          <p:cNvSpPr/>
          <p:nvPr/>
        </p:nvSpPr>
        <p:spPr>
          <a:xfrm>
            <a:off x="4663440" y="3383280"/>
            <a:ext cx="4160520" cy="1078992"/>
          </a:xfrm>
          <a:prstGeom prst="rect">
            <a:avLst/>
          </a:prstGeom>
          <a:solidFill>
            <a:srgbClr val="FEF3F2"/>
          </a:solidFill>
          <a:ln w="12700">
            <a:solidFill>
              <a:srgbClr val="D0D5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8"/>
          <p:cNvSpPr/>
          <p:nvPr/>
        </p:nvSpPr>
        <p:spPr>
          <a:xfrm>
            <a:off x="4800600" y="347472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 XOR y) XOR z = x XOR (y XOR z)</a:t>
            </a:r>
            <a:endParaRPr lang="pt-BR" sz="1800" noProof="0" dirty="0"/>
          </a:p>
        </p:txBody>
      </p:sp>
      <p:sp>
        <p:nvSpPr>
          <p:cNvPr id="21" name="Text 19"/>
          <p:cNvSpPr/>
          <p:nvPr/>
        </p:nvSpPr>
        <p:spPr>
          <a:xfrm>
            <a:off x="4800600" y="3913632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Associatividade</a:t>
            </a:r>
            <a:endParaRPr lang="pt-BR" sz="1150" noProof="0" dirty="0"/>
          </a:p>
        </p:txBody>
      </p:sp>
      <p:sp>
        <p:nvSpPr>
          <p:cNvPr id="22" name="Text 20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Computação • IFF • 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Simplificação de Expressões Booleanas</a:t>
            </a:r>
            <a:endParaRPr lang="pt-BR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solidFill>
            <a:srgbClr val="DDD6F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229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as propriedades da Álgebra de Boole para simplificar expressões reduz o numero de portas lógicas necessárias em um circuito.</a:t>
            </a:r>
            <a:endParaRPr lang="pt-BR" sz="1250" noProof="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simplificação:</a:t>
            </a:r>
            <a:endParaRPr lang="pt-BR" sz="1400" noProof="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8412480" cy="530352"/>
          </a:xfrm>
          <a:prstGeom prst="rect">
            <a:avLst/>
          </a:prstGeom>
          <a:solidFill>
            <a:srgbClr val="E0E7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502920" y="217627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Aplique De Morgan para eliminar negações sobre expressões compostas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8412480" cy="530352"/>
          </a:xfrm>
          <a:prstGeom prst="rect">
            <a:avLst/>
          </a:prstGeom>
          <a:solidFill>
            <a:srgbClr val="EDE9FE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502920" y="27706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Use distributividade para fatorar ou expandir termos</a:t>
            </a:r>
            <a:endParaRPr lang="pt-BR" sz="1250" noProof="0" dirty="0"/>
          </a:p>
        </p:txBody>
      </p:sp>
      <p:sp>
        <p:nvSpPr>
          <p:cNvPr id="11" name="Shape 9"/>
          <p:cNvSpPr/>
          <p:nvPr/>
        </p:nvSpPr>
        <p:spPr>
          <a:xfrm>
            <a:off x="365760" y="3337560"/>
            <a:ext cx="8412480" cy="530352"/>
          </a:xfrm>
          <a:prstGeom prst="rect">
            <a:avLst/>
          </a:prstGeom>
          <a:solidFill>
            <a:srgbClr val="E0E7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502920" y="33649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Aplique idempotencia (x + x = x) e complemento (x + x' = 1) para cancelar termos</a:t>
            </a:r>
            <a:endParaRPr lang="pt-BR" sz="1250" noProof="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8412480" cy="530352"/>
          </a:xfrm>
          <a:prstGeom prst="rect">
            <a:avLst/>
          </a:prstGeom>
          <a:solidFill>
            <a:srgbClr val="EDE9FE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502920" y="39593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Verifique com a tabela verdade se a expressao simplificada e equivalente a original</a:t>
            </a:r>
            <a:endParaRPr lang="pt-BR" sz="1250" noProof="0" dirty="0"/>
          </a:p>
        </p:txBody>
      </p:sp>
      <p:sp>
        <p:nvSpPr>
          <p:cNvPr id="15" name="Text 13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Computação • IFF • 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</a:t>
            </a:r>
            <a:endParaRPr lang="pt-BR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868680"/>
          </a:xfrm>
          <a:prstGeom prst="rect">
            <a:avLst/>
          </a:prstGeom>
          <a:solidFill>
            <a:srgbClr val="E0E7FF"/>
          </a:solidFill>
          <a:ln w="12700">
            <a:solidFill>
              <a:srgbClr val="D0D5DD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572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10332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Avalie a expressão booleana A . (B + C') para A=1, B=0, C=1</a:t>
            </a:r>
            <a:endParaRPr lang="pt-BR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914400" y="147218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siga a ordem de precedência — parênteses -&gt; NOT -&gt; AND -&gt; OR</a:t>
            </a:r>
            <a:endParaRPr lang="pt-BR" sz="1100" noProof="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868680"/>
          </a:xfrm>
          <a:prstGeom prst="rect">
            <a:avLst/>
          </a:prstGeom>
          <a:solidFill>
            <a:srgbClr val="DDD6FE"/>
          </a:solidFill>
          <a:ln w="12700">
            <a:solidFill>
              <a:srgbClr val="D0D5DD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4572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365760" y="192024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1800" noProof="0" dirty="0"/>
          </a:p>
        </p:txBody>
      </p:sp>
      <p:sp>
        <p:nvSpPr>
          <p:cNvPr id="12" name="Text 10"/>
          <p:cNvSpPr/>
          <p:nvPr/>
        </p:nvSpPr>
        <p:spPr>
          <a:xfrm>
            <a:off x="914400" y="199339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se as funções f1 = A + AB  e  f2 = A  são equivalentes</a:t>
            </a:r>
            <a:endParaRPr lang="pt-BR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914400" y="243230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construa a tabela verdade para ambas ou use a propriedade de adição</a:t>
            </a:r>
            <a:endParaRPr lang="pt-BR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8412480" cy="868680"/>
          </a:xfrm>
          <a:prstGeom prst="rect">
            <a:avLst/>
          </a:prstGeom>
          <a:solidFill>
            <a:srgbClr val="EDE9FE"/>
          </a:solidFill>
          <a:ln w="12700">
            <a:solidFill>
              <a:srgbClr val="D0D5DD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4572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365760" y="288036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800" noProof="0" dirty="0"/>
          </a:p>
        </p:txBody>
      </p:sp>
      <p:sp>
        <p:nvSpPr>
          <p:cNvPr id="17" name="Text 15"/>
          <p:cNvSpPr/>
          <p:nvPr/>
        </p:nvSpPr>
        <p:spPr>
          <a:xfrm>
            <a:off x="914400" y="295351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Simplifique a expressão: (A + B) . (A + B')</a:t>
            </a:r>
            <a:endParaRPr lang="pt-BR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914400" y="339242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use a propriedade distributiva e o complemento</a:t>
            </a:r>
            <a:endParaRPr lang="pt-BR" sz="1100" noProof="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8412480" cy="868680"/>
          </a:xfrm>
          <a:prstGeom prst="rect">
            <a:avLst/>
          </a:prstGeom>
          <a:solidFill>
            <a:srgbClr val="F3E8FF"/>
          </a:solidFill>
          <a:ln w="12700">
            <a:solidFill>
              <a:srgbClr val="D0D5DD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4572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365760" y="384048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pt-BR" sz="1800" noProof="0" dirty="0"/>
          </a:p>
        </p:txBody>
      </p:sp>
      <p:sp>
        <p:nvSpPr>
          <p:cNvPr id="22" name="Text 20"/>
          <p:cNvSpPr/>
          <p:nvPr/>
        </p:nvSpPr>
        <p:spPr>
          <a:xfrm>
            <a:off x="914400" y="391363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De Morgan em: (A . B . C')'</a:t>
            </a:r>
            <a:endParaRPr lang="pt-BR" sz="1300" noProof="0" dirty="0"/>
          </a:p>
        </p:txBody>
      </p:sp>
      <p:sp>
        <p:nvSpPr>
          <p:cNvPr id="23" name="Text 21"/>
          <p:cNvSpPr/>
          <p:nvPr/>
        </p:nvSpPr>
        <p:spPr>
          <a:xfrm>
            <a:off x="914400" y="435254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De Morgan para AND: (xyz)' = x' + y' + z'</a:t>
            </a:r>
            <a:endParaRPr lang="pt-BR" sz="1100" noProof="0" dirty="0"/>
          </a:p>
        </p:txBody>
      </p:sp>
      <p:sp>
        <p:nvSpPr>
          <p:cNvPr id="24" name="Text 22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Computação • IFF • 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1554480"/>
          </a:xfrm>
          <a:prstGeom prst="rect">
            <a:avLst/>
          </a:prstGeom>
          <a:solidFill>
            <a:srgbClr val="162055"/>
          </a:solidFill>
          <a:ln w="12700">
            <a:solidFill>
              <a:srgbClr val="16205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5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Obrigada!</a:t>
            </a:r>
            <a:endParaRPr lang="pt-BR" sz="52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0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 Perguntas?</a:t>
            </a:r>
            <a:endParaRPr lang="pt-BR" sz="20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Lucas Scotta •  Introdução à Computação•  IFF 2026</a:t>
            </a:r>
            <a:endParaRPr lang="pt-BR" sz="11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1229</Words>
  <Application>Microsoft Office PowerPoint</Application>
  <PresentationFormat>Apresentação na tela (16:9)</PresentationFormat>
  <Paragraphs>200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Lógica - Parte II</dc:title>
  <dc:subject>PptxGenJS Presentation</dc:subject>
  <dc:creator>PptxGenJS</dc:creator>
  <cp:lastModifiedBy>Lucas Scotta</cp:lastModifiedBy>
  <cp:revision>5</cp:revision>
  <dcterms:created xsi:type="dcterms:W3CDTF">2026-05-26T19:20:15Z</dcterms:created>
  <dcterms:modified xsi:type="dcterms:W3CDTF">2026-06-07T19:21:16Z</dcterms:modified>
</cp:coreProperties>
</file>