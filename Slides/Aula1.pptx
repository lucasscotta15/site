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2" r:id="rId3"/>
    <p:sldId id="258" r:id="rId4"/>
    <p:sldId id="259" r:id="rId5"/>
    <p:sldId id="284" r:id="rId6"/>
    <p:sldId id="285" r:id="rId7"/>
    <p:sldId id="260" r:id="rId8"/>
    <p:sldId id="286" r:id="rId9"/>
    <p:sldId id="261" r:id="rId10"/>
    <p:sldId id="262" r:id="rId11"/>
    <p:sldId id="263" r:id="rId12"/>
    <p:sldId id="264" r:id="rId13"/>
    <p:sldId id="288" r:id="rId14"/>
    <p:sldId id="265" r:id="rId15"/>
    <p:sldId id="266" r:id="rId16"/>
    <p:sldId id="287" r:id="rId17"/>
    <p:sldId id="267" r:id="rId18"/>
    <p:sldId id="268" r:id="rId19"/>
    <p:sldId id="269" r:id="rId20"/>
    <p:sldId id="270" r:id="rId21"/>
    <p:sldId id="271" r:id="rId22"/>
    <p:sldId id="272" r:id="rId23"/>
    <p:sldId id="289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3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09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02CD9-1F1F-21E8-49B3-FFEC70CD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E59BF-E4CF-8AF0-BFBE-41C05AB73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D0A1D-12C2-A2C6-FD70-C8CD229C3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6CED5-7454-5FE8-6E99-44AB80AB8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39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1EE9-E894-1F6D-D195-85ADAECD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40829-94D1-E4B6-2257-AB79021A7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077B6-8487-8615-8048-0C36C37FC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80FB4-8071-EA2E-C8A2-9DC0AA0795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03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94C91C09-E2A7-8666-94DA-C856B12FEA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716" y="67662"/>
            <a:ext cx="843445" cy="7743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8480" y="1489075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Lucas Scotta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2026</a:t>
            </a:r>
            <a:endParaRPr lang="en-US" sz="1400" dirty="0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BA9080DC-E7AD-3F55-812E-EAD21F668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810" y="52810"/>
            <a:ext cx="1500352" cy="1377527"/>
          </a:xfrm>
          <a:prstGeom prst="rect">
            <a:avLst/>
          </a:prstGeom>
        </p:spPr>
      </p:pic>
      <p:sp>
        <p:nvSpPr>
          <p:cNvPr id="23" name="Text 2">
            <a:extLst>
              <a:ext uri="{FF2B5EF4-FFF2-40B4-BE49-F238E27FC236}">
                <a16:creationId xmlns:a16="http://schemas.microsoft.com/office/drawing/2014/main" id="{DF913024-B00C-1E0A-C141-2245E4FDDD54}"/>
              </a:ext>
            </a:extLst>
          </p:cNvPr>
          <p:cNvSpPr/>
          <p:nvPr/>
        </p:nvSpPr>
        <p:spPr>
          <a:xfrm>
            <a:off x="375920" y="322643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lscotta@iff.edu.br</a:t>
            </a:r>
          </a:p>
          <a:p>
            <a:pPr marL="0" indent="0" algn="ctr">
              <a:buNone/>
            </a:pP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lucas.a.scotta</a:t>
            </a:r>
            <a:endParaRPr lang="en-US" sz="14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lucas_scotta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66308-B3C1-D8B0-4A4E-331C063D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26D0859-CDAB-D119-772E-7A827A6BD306}"/>
              </a:ext>
            </a:extLst>
          </p:cNvPr>
          <p:cNvSpPr/>
          <p:nvPr/>
        </p:nvSpPr>
        <p:spPr>
          <a:xfrm>
            <a:off x="457200" y="155109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F60E81-62FF-A854-52AD-08C904C6E366}"/>
              </a:ext>
            </a:extLst>
          </p:cNvPr>
          <p:cNvSpPr/>
          <p:nvPr/>
        </p:nvSpPr>
        <p:spPr>
          <a:xfrm>
            <a:off x="457200" y="462618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2026</a:t>
            </a:r>
            <a:endParaRPr lang="en-US" sz="1400" dirty="0"/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135BFFD5-48F8-59F6-7F84-5C9B15323F0A}"/>
              </a:ext>
            </a:extLst>
          </p:cNvPr>
          <p:cNvSpPr/>
          <p:nvPr/>
        </p:nvSpPr>
        <p:spPr>
          <a:xfrm>
            <a:off x="1805940" y="1598929"/>
            <a:ext cx="853440" cy="452967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393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Ciência da Computação?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CADCFC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da Computação é o estudo de computação, algoritmos e informação. Combina teoria matemática, engenharia prática e aplicações práticas para resolver problemas complexos.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194560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e Complexidade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194560" cy="1645920"/>
          </a:xfrm>
          <a:prstGeom prst="rect">
            <a:avLst/>
          </a:prstGeom>
          <a:solidFill>
            <a:srgbClr val="0EA5E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3657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Software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017520"/>
            <a:ext cx="219456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3657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Reais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da Computação (Parte 1)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34440" y="1344168"/>
            <a:ext cx="65379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704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Lovelace escreve algoritmos para Máquina Analítica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212848"/>
            <a:ext cx="653796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3911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publica teoria de máquinas computáveis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3081528"/>
            <a:ext cx="6537960" cy="36576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9077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 - Primeiro computador eletrônico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581C8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3950208"/>
            <a:ext cx="6537960" cy="36576"/>
          </a:xfrm>
          <a:prstGeom prst="rect">
            <a:avLst/>
          </a:prstGeom>
          <a:solidFill>
            <a:srgbClr val="581C87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776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linguagens de programação (FORTRAN, COBOL)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34528FD-2630-9A40-AB4F-31CEBDEE6522}"/>
              </a:ext>
            </a:extLst>
          </p:cNvPr>
          <p:cNvSpPr txBox="1"/>
          <p:nvPr/>
        </p:nvSpPr>
        <p:spPr>
          <a:xfrm>
            <a:off x="196769" y="3650471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Máquina Analítica - </a:t>
            </a:r>
            <a:r>
              <a:rPr lang="pt-BR" sz="1100" dirty="0"/>
              <a:t>https://upload.wikimedia.org/wikipedia/commons/a/ac/AnalyticalMachine_Babbage_London.jpg</a:t>
            </a:r>
            <a:endParaRPr lang="pt-BR" dirty="0"/>
          </a:p>
        </p:txBody>
      </p:sp>
      <p:pic>
        <p:nvPicPr>
          <p:cNvPr id="4" name="Imagem 3" descr="Ficheiro:AnalyticalMachine Babbage London.jpg">
            <a:extLst>
              <a:ext uri="{FF2B5EF4-FFF2-40B4-BE49-F238E27FC236}">
                <a16:creationId xmlns:a16="http://schemas.microsoft.com/office/drawing/2014/main" id="{6E8422E7-D193-B01D-4AD2-CB95A7D0C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64" y="382061"/>
            <a:ext cx="3210179" cy="308310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7055CA7-8B26-52FB-4294-264A0DD77CB2}"/>
              </a:ext>
            </a:extLst>
          </p:cNvPr>
          <p:cNvSpPr txBox="1"/>
          <p:nvPr/>
        </p:nvSpPr>
        <p:spPr>
          <a:xfrm>
            <a:off x="3894881" y="118495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máquina analítica incorporava uma unidade lógica aritmética, fluxo de controle na forma de ramificações condicionais, loops e memória integrada, tornando-o o primeiro projeto para um computador de uso geral.</a:t>
            </a:r>
          </a:p>
        </p:txBody>
      </p:sp>
    </p:spTree>
    <p:extLst>
      <p:ext uri="{BB962C8B-B14F-4D97-AF65-F5344CB8AC3E}">
        <p14:creationId xmlns:p14="http://schemas.microsoft.com/office/powerpoint/2010/main" val="159348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icheiro:Two women operating ENIAC (full resolution).jpg">
            <a:extLst>
              <a:ext uri="{FF2B5EF4-FFF2-40B4-BE49-F238E27FC236}">
                <a16:creationId xmlns:a16="http://schemas.microsoft.com/office/drawing/2014/main" id="{CFFE2023-7A03-F50A-8F21-69D3510C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" y="624839"/>
            <a:ext cx="3474444" cy="23850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8CF2084-A68C-C6A7-08AB-9B83437BFCF5}"/>
              </a:ext>
            </a:extLst>
          </p:cNvPr>
          <p:cNvSpPr txBox="1"/>
          <p:nvPr/>
        </p:nvSpPr>
        <p:spPr>
          <a:xfrm>
            <a:off x="563880" y="347540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ENIAC</a:t>
            </a:r>
          </a:p>
          <a:p>
            <a:r>
              <a:rPr lang="pt-BR" sz="1200" dirty="0"/>
              <a:t>https://pt.wikipedia.org/wiki/Ficheiro:Two_women_operating_ENIAC_(full_resolution).jpg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8A65-5832-F178-DAC9-CC661D8A3DF1}"/>
              </a:ext>
            </a:extLst>
          </p:cNvPr>
          <p:cNvSpPr txBox="1"/>
          <p:nvPr/>
        </p:nvSpPr>
        <p:spPr>
          <a:xfrm>
            <a:off x="4259580" y="1564124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Computador Integrador Numérico Eletrônico</a:t>
            </a:r>
          </a:p>
          <a:p>
            <a:endParaRPr lang="pt-BR" dirty="0"/>
          </a:p>
          <a:p>
            <a:r>
              <a:rPr lang="pt-BR" dirty="0"/>
              <a:t>Sua capacidade de processamento era suficiente apenas para realizar 5 000 adições, 357 multiplicações ou 38 divisões por segundo - o que era considerado muito rápido na época;</a:t>
            </a:r>
          </a:p>
        </p:txBody>
      </p:sp>
    </p:spTree>
    <p:extLst>
      <p:ext uri="{BB962C8B-B14F-4D97-AF65-F5344CB8AC3E}">
        <p14:creationId xmlns:p14="http://schemas.microsoft.com/office/powerpoint/2010/main" val="251445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da Computação (Parte 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34440" y="1344168"/>
            <a:ext cx="65379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704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Pessoais (Apple II, Commodore)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212848"/>
            <a:ext cx="6537960" cy="3657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3911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Revolução do PC e Sistemas Operacionais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3081528"/>
            <a:ext cx="653796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9077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 World Wide Web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3950208"/>
            <a:ext cx="6537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7764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Computing, IA e Big Data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4E0398-6F86-8B6F-BDE7-E445D322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42" y="255051"/>
            <a:ext cx="2842444" cy="245020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DADE24E-8A5B-FCB8-4E89-18BD4EE02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794" y="537246"/>
            <a:ext cx="3892571" cy="23280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69C73D0-FA64-1572-02FD-2AA34106E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22" y="2865279"/>
            <a:ext cx="3330763" cy="217945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FE7B862-7B28-32C6-980A-97CA152D5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554" y="3128164"/>
            <a:ext cx="4724809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38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Áreas de Estudo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áreas: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51760" cy="53035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Sistemas de Computação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1417320"/>
            <a:ext cx="2651760" cy="530352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Teoria da Computação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265176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4630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Algoritmos e Otimização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2651760" cy="530352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Compiladores e Linguagens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057400"/>
            <a:ext cx="2651760" cy="530352"/>
          </a:xfrm>
          <a:prstGeom prst="rect">
            <a:avLst/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Sistemas Operacionais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057400"/>
            <a:ext cx="2651760" cy="530352"/>
          </a:xfrm>
          <a:prstGeom prst="rect">
            <a:avLst/>
          </a:prstGeom>
          <a:solidFill>
            <a:srgbClr val="FEF3F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Redes de Computadores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697480"/>
            <a:ext cx="2651760" cy="530352"/>
          </a:xfrm>
          <a:prstGeom prst="rect">
            <a:avLst/>
          </a:prstGeom>
          <a:solidFill>
            <a:srgbClr val="E0E7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Bancos de Dados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697480"/>
            <a:ext cx="2651760" cy="530352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Engenharia de Software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2697480"/>
            <a:ext cx="2651760" cy="530352"/>
          </a:xfrm>
          <a:prstGeom prst="rect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7432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Inteligência Artificial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37560"/>
            <a:ext cx="2651760" cy="530352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Computação Gráfica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337560"/>
            <a:ext cx="2651760" cy="530352"/>
          </a:xfrm>
          <a:prstGeom prst="rect">
            <a:avLst/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Computação Científica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3337560"/>
            <a:ext cx="2651760" cy="530352"/>
          </a:xfrm>
          <a:prstGeom prst="rect">
            <a:avLst/>
          </a:prstGeom>
          <a:solidFill>
            <a:srgbClr val="FEF3F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3832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Análise Numérica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Sistemas de Computação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computadores (CPU, memória, I/O)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projeto de computadores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paralelo e distribuído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armazenamento e redes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Um engenheiro de sistemas de computação projeta como um processador comunica com a memória para otimizar o desempenho geral.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Teoria da Computação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Autômatos e linguagens formais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Computabilidade e decidibilidade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Turing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NP-completos e limitações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Pesquisadores definem quais problemas podem ou não ser resolvidos por computadores, estabelecendo os limites teóricos da computação.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Algoritmos e Otimização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 análise de algoritmos eficientes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computacional (Big 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busca, ordenação e grafos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Otimizar um algoritmo de busca para processar 1 bilhão de registros em tempo aceitável é um desafio de Algoritmos e Otimização.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538B18B-7C07-5685-683A-ABD27EB2E1E3}"/>
              </a:ext>
            </a:extLst>
          </p:cNvPr>
          <p:cNvSpPr txBox="1"/>
          <p:nvPr/>
        </p:nvSpPr>
        <p:spPr>
          <a:xfrm>
            <a:off x="320040" y="773073"/>
            <a:ext cx="59988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problema do </a:t>
            </a:r>
            <a:r>
              <a:rPr lang="pt-BR" b="1" dirty="0"/>
              <a:t>Caixeiro Viajante </a:t>
            </a:r>
            <a:r>
              <a:rPr lang="pt-BR" dirty="0"/>
              <a:t>é um problema que tenta determinar a menor rota para percorrer uma série de cidades (visitando cada uma pelo menos uma vez), retornando à cidade de origem. A grande questão é quando há mais de 25 cidades com algoritmo te força bruta, o tempo pode ser impraticável.</a:t>
            </a:r>
          </a:p>
          <a:p>
            <a:endParaRPr lang="pt-BR" dirty="0"/>
          </a:p>
          <a:p>
            <a:r>
              <a:rPr lang="pt-BR" dirty="0"/>
              <a:t>Ele é um problema de otimização NP-Completo inspirado na necessidade dos vendedores em realizar entregas em diversos locais (as cidades) percorrendo o menor caminho possível, reduzindo o tempo necessário para a viagem e os possíveis custos com transporte e combustível.</a:t>
            </a:r>
          </a:p>
          <a:p>
            <a:endParaRPr lang="pt-BR" dirty="0"/>
          </a:p>
          <a:p>
            <a:r>
              <a:rPr lang="pt-BR" dirty="0"/>
              <a:t>Fonte: http://pt.wikipedia.org/wiki/Problema_do_caixeiro-viajante</a:t>
            </a:r>
          </a:p>
        </p:txBody>
      </p:sp>
      <p:pic>
        <p:nvPicPr>
          <p:cNvPr id="4" name="Imagem 3" descr="O Caixeiro Viajante que pode ganhar um milhão de dólares - Deviante">
            <a:extLst>
              <a:ext uri="{FF2B5EF4-FFF2-40B4-BE49-F238E27FC236}">
                <a16:creationId xmlns:a16="http://schemas.microsoft.com/office/drawing/2014/main" id="{D65D555E-E100-4656-5702-1588638BB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05" y="1512570"/>
            <a:ext cx="2505075" cy="18288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56C989-CB27-E48B-AEA8-D65C8216C9A1}"/>
              </a:ext>
            </a:extLst>
          </p:cNvPr>
          <p:cNvSpPr txBox="1"/>
          <p:nvPr/>
        </p:nvSpPr>
        <p:spPr>
          <a:xfrm>
            <a:off x="6858000" y="3613071"/>
            <a:ext cx="20497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/>
              <a:t>https://www.deviante.com.br/noticias/ciencia/o-caixeiro-viajante-que-pode-ganhar-um-milhao-de-dolares/</a:t>
            </a:r>
          </a:p>
        </p:txBody>
      </p:sp>
    </p:spTree>
    <p:extLst>
      <p:ext uri="{BB962C8B-B14F-4D97-AF65-F5344CB8AC3E}">
        <p14:creationId xmlns:p14="http://schemas.microsoft.com/office/powerpoint/2010/main" val="3086883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Compiladores e Linguagens de Programação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 implementação de linguagens de programação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Compiladores e interpretadores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léxica e sintática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código e geração de máquina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Quando você escreve código em Python, um compilador/interpretador o traduz em instruções que o computador entende.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Sistemas Operacionais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processos e threads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memória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arquivos e I/O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e concorrência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Linux, Windows e macOS são sistemas operacionais que gerenciam recursos do computador para múltiplos programas simultâneos.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853B5C9-4BE6-4EB8-80DC-0EDD870AE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32" y="1417320"/>
            <a:ext cx="3534504" cy="2636688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14389CB2-46C5-3FCC-F089-990B2B809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496373"/>
            <a:ext cx="3752956" cy="2150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7A818C3-30C8-E67E-5899-3FE42D070647}"/>
              </a:ext>
            </a:extLst>
          </p:cNvPr>
          <p:cNvSpPr txBox="1"/>
          <p:nvPr/>
        </p:nvSpPr>
        <p:spPr>
          <a:xfrm>
            <a:off x="4511040" y="36471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Sistema Operacional na Visão do Usuário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968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Redes de Computadores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entre computadores (protocolos)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redes (OSI, TCP/IP)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 e comutação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redes e criptografia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Internet, Wi-Fi e 5G são tecnologias baseadas em Redes de Computadores que conectam bilhões de dispositivos.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Bancos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dados (relacional, NoSQL)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 normalização de bancos de dados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 linguagens de consulta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Transações, integridade e segurança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Bancos de dados armazenam e recuperam milhões de registros de clientes, contas e transações de forma eficiente.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Engenharia de Software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de desenvolvimento (Agile, Waterfall)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software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garantia de qualidade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e evolução de sistemas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Desenvolveu-se um aplicativo mobile? Engenharia de Software definio como planejá-lo, implementá-lo e testá-lo.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Inteligência Artificial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 Deep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linguagem natural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 e robótica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ChatGPT, reconhecimento facial, carros autônomos e sistemas de recomendação são aplicações de Inteligência Artificial.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Computação Gráfica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3D e 2D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imagens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virtual e aumentada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 e modelagem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Videogames modernos, filmes de animação (Pixar), e aplicativos de AR (Instagram filters) usam Computação Gráfica.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Computação Científica e Análise Numérica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017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estuda?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 e simulação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de alto desempenho (HPC)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e Big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matemática computacional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Exemplo: Simulações climáticas, previsões do tempo e pesquisa em genômica usam Computação Científica para processar trilhões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9A061-752E-F25E-AA6C-4F633348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6518F34-50CB-7F80-4451-3F3E63C78D19}"/>
              </a:ext>
            </a:extLst>
          </p:cNvPr>
          <p:cNvSpPr/>
          <p:nvPr/>
        </p:nvSpPr>
        <p:spPr>
          <a:xfrm>
            <a:off x="457200" y="155109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</a:p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FA1932-FB21-1597-BF1F-9697F3D5D0F2}"/>
              </a:ext>
            </a:extLst>
          </p:cNvPr>
          <p:cNvSpPr/>
          <p:nvPr/>
        </p:nvSpPr>
        <p:spPr>
          <a:xfrm>
            <a:off x="457200" y="462618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Computação • 2026</a:t>
            </a:r>
            <a:endParaRPr lang="en-US" sz="1400" dirty="0"/>
          </a:p>
        </p:txBody>
      </p:sp>
      <p:sp>
        <p:nvSpPr>
          <p:cNvPr id="2" name="Seta: para a Esquerda 1">
            <a:extLst>
              <a:ext uri="{FF2B5EF4-FFF2-40B4-BE49-F238E27FC236}">
                <a16:creationId xmlns:a16="http://schemas.microsoft.com/office/drawing/2014/main" id="{1F56EB0B-33A0-BA54-7DE3-D0638C31A827}"/>
              </a:ext>
            </a:extLst>
          </p:cNvPr>
          <p:cNvSpPr/>
          <p:nvPr/>
        </p:nvSpPr>
        <p:spPr>
          <a:xfrm>
            <a:off x="3253740" y="2326216"/>
            <a:ext cx="853440" cy="452967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894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da Computação na Sociedade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Computação transformou e continua transformando o mundo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463040"/>
          </a:xfrm>
          <a:prstGeom prst="rect">
            <a:avLst/>
          </a:prstGeom>
          <a:solidFill>
            <a:srgbClr val="3B82F6">
              <a:alpha val="8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Global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conecta bilhões de pessoas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931920" cy="146304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Digital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e governos digitalizados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931920" cy="146304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Rápida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produtos e serviços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108960"/>
            <a:ext cx="3931920" cy="1463040"/>
          </a:xfrm>
          <a:prstGeom prst="rect">
            <a:avLst/>
          </a:prstGeom>
          <a:solidFill>
            <a:srgbClr val="EF4444">
              <a:alpha val="8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Digital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840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Criptocurmoedas, e-commerce, apps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Privacidade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de Dados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informações pessoais (LGPD, GDPR)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em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algoritmos não discriminem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Cibernética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contra ataques e roubo de dados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Algorítmica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em decisões automatizadas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Digital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comunicações e dados sensíveis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segura de identidade (senhas, 2FA)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 Fraudes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atividades suspeitas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Malware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Antivírus, firewalls e sistemas de defesa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Legais e Regulamentação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474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(Brasil)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Geral de Proteção de Dados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(Europa)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Data Protection Regulation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Intelectual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software e patentes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Cumprimento de normas e padrões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Atuais da Computação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que os cientistas da computação estão resolvendo hoje: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Sustentabilidade - Computação com eficiência energética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IA Responsável - Algoritmos justos e explicáveis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Segurança Quântica - Preparação para computadores quânticos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23317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Big Data - Processamento de volume massivo de dados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Computação Distribuída - Escalabilidade global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Neurotecnologia - Interfaces cérebro-computador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da Ciência da Computação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Quânticos - Revolucionando criptografia e simulação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Geral - Sistemas inteligentes autônomos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Ubíqua - Computadores em tudo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Biológica - Usando moléculas para processar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Tecnológica - Preparando profissionais para o futuro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CADCFC">
              <a:alpha val="80000"/>
            </a:srgbClr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Ciência da Computação é: 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ciência jovem com enorme potencial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Fundamental para a transformação digital da sociedade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Repleta de desafios éticos e sociais importantes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Uma carreira promissora com infinitas possibilidades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Essencial para enfrentar os desafios do século XXI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Discussão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explorar as áreas mais interessantes para você!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F5C3B8-E93C-658B-1622-EF4890C5A10B}"/>
              </a:ext>
            </a:extLst>
          </p:cNvPr>
          <p:cNvSpPr/>
          <p:nvPr/>
        </p:nvSpPr>
        <p:spPr>
          <a:xfrm>
            <a:off x="287866" y="453813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Bibliográficas</a:t>
            </a:r>
            <a:endParaRPr lang="en-US" sz="4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6EB0C59-B663-105C-805F-458264121C50}"/>
              </a:ext>
            </a:extLst>
          </p:cNvPr>
          <p:cNvSpPr txBox="1"/>
          <p:nvPr/>
        </p:nvSpPr>
        <p:spPr>
          <a:xfrm>
            <a:off x="695959" y="1236395"/>
            <a:ext cx="753533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https://pt.wikipedia.org/wiki/Ci%C3%AAncia_da_computa%C3%A7%C3%A3o</a:t>
            </a:r>
          </a:p>
          <a:p>
            <a:endParaRPr lang="pt-BR" sz="1400" dirty="0"/>
          </a:p>
          <a:p>
            <a:r>
              <a:rPr lang="pt-BR" sz="1400" dirty="0"/>
              <a:t>https://pt.wikipedia.org/wiki/M%C3%A1quina_anal%C3%ADtica</a:t>
            </a:r>
          </a:p>
          <a:p>
            <a:endParaRPr lang="pt-BR" sz="1400" dirty="0"/>
          </a:p>
          <a:p>
            <a:r>
              <a:rPr lang="pt-BR" sz="1400" dirty="0"/>
              <a:t>https://pt.wikipedia.org/wiki/ENIAC</a:t>
            </a:r>
          </a:p>
          <a:p>
            <a:endParaRPr lang="pt-BR" sz="1400" dirty="0"/>
          </a:p>
          <a:p>
            <a:r>
              <a:rPr lang="pt-BR" sz="1400" dirty="0"/>
              <a:t>Feito com o auxílio de Inteligência Artificial</a:t>
            </a:r>
          </a:p>
          <a:p>
            <a:endParaRPr lang="pt-BR" sz="1400" dirty="0"/>
          </a:p>
          <a:p>
            <a:r>
              <a:rPr lang="pt-BR" sz="1400" dirty="0"/>
              <a:t>OLIVEIRA, R. S.; CARISSIMI, A. S. e TOSCANI, S. S. Sistemas Operacionais. Sagra Luzzatto, Porto Alegre, 2001. (Cap. 1)</a:t>
            </a:r>
          </a:p>
          <a:p>
            <a:r>
              <a:rPr lang="pt-BR" sz="1400" dirty="0"/>
              <a:t>TANENBAUM, A. S. Sistemas Operacionais Modernos. Prentice Hall, 2ª Edição, 2003.</a:t>
            </a:r>
          </a:p>
          <a:p>
            <a:endParaRPr lang="pt-BR" sz="1400" dirty="0"/>
          </a:p>
          <a:p>
            <a:endParaRPr lang="pt-BR" sz="1400" dirty="0"/>
          </a:p>
          <a:p>
            <a:r>
              <a:rPr lang="pt-BR" sz="1400" dirty="0"/>
              <a:t>https://csed.acm.org/wp-content/uploads/2023/09/Version-Gamma.pdf</a:t>
            </a:r>
          </a:p>
        </p:txBody>
      </p:sp>
    </p:spTree>
    <p:extLst>
      <p:ext uri="{BB962C8B-B14F-4D97-AF65-F5344CB8AC3E}">
        <p14:creationId xmlns:p14="http://schemas.microsoft.com/office/powerpoint/2010/main" val="148883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1521</Words>
  <Application>Microsoft Office PowerPoint</Application>
  <PresentationFormat>Apresentação na tela (16:9)</PresentationFormat>
  <Paragraphs>250</Paragraphs>
  <Slides>32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 Geral da Ciência da Computação</dc:title>
  <dc:subject>PptxGenJS Presentation</dc:subject>
  <dc:creator>Lucas Scotta</dc:creator>
  <cp:lastModifiedBy>Lucas Scotta</cp:lastModifiedBy>
  <cp:revision>6</cp:revision>
  <dcterms:created xsi:type="dcterms:W3CDTF">2026-05-12T00:18:29Z</dcterms:created>
  <dcterms:modified xsi:type="dcterms:W3CDTF">2026-06-07T19:19:04Z</dcterms:modified>
</cp:coreProperties>
</file>